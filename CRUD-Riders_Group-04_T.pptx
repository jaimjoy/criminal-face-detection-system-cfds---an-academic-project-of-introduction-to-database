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5"/>
  </p:notesMasterIdLst>
  <p:sldIdLst>
    <p:sldId id="299" r:id="rId5"/>
    <p:sldId id="328" r:id="rId6"/>
    <p:sldId id="309" r:id="rId7"/>
    <p:sldId id="330" r:id="rId8"/>
    <p:sldId id="331" r:id="rId9"/>
    <p:sldId id="332" r:id="rId10"/>
    <p:sldId id="334" r:id="rId11"/>
    <p:sldId id="333" r:id="rId12"/>
    <p:sldId id="303" r:id="rId13"/>
    <p:sldId id="304" r:id="rId14"/>
    <p:sldId id="335" r:id="rId15"/>
    <p:sldId id="305" r:id="rId16"/>
    <p:sldId id="336" r:id="rId17"/>
    <p:sldId id="308" r:id="rId18"/>
    <p:sldId id="337" r:id="rId19"/>
    <p:sldId id="338" r:id="rId20"/>
    <p:sldId id="307" r:id="rId21"/>
    <p:sldId id="323" r:id="rId22"/>
    <p:sldId id="306" r:id="rId23"/>
    <p:sldId id="293" r:id="rId2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DFBF6"/>
    <a:srgbClr val="E6F0FE"/>
    <a:srgbClr val="D4D593"/>
    <a:srgbClr val="0D01FF"/>
    <a:srgbClr val="F5CDCE"/>
    <a:srgbClr val="AAC4E9"/>
    <a:srgbClr val="74CE83"/>
    <a:srgbClr val="202C8F"/>
    <a:srgbClr val="DF8C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FEE239-1691-45B2-9514-ECB4DB5E5203}" v="8" dt="2024-05-13T18:10:11.321"/>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30" autoAdjust="0"/>
    <p:restoredTop sz="94485" autoAdjust="0"/>
  </p:normalViewPr>
  <p:slideViewPr>
    <p:cSldViewPr snapToGrid="0" snapToObjects="1">
      <p:cViewPr varScale="1">
        <p:scale>
          <a:sx n="74" d="100"/>
          <a:sy n="74" d="100"/>
        </p:scale>
        <p:origin x="1162" y="67"/>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sldNum="0" hdr="0" ft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DDC2D5-8000-3F62-D6AB-45ED44A6CE41}"/>
              </a:ext>
            </a:extLst>
          </p:cNvPr>
          <p:cNvSpPr txBox="1"/>
          <p:nvPr/>
        </p:nvSpPr>
        <p:spPr>
          <a:xfrm>
            <a:off x="3546135" y="403569"/>
            <a:ext cx="8028549" cy="6344471"/>
          </a:xfrm>
          <a:prstGeom prst="rect">
            <a:avLst/>
          </a:prstGeom>
        </p:spPr>
        <p:txBody>
          <a:bodyPr vert="horz" lIns="45720" tIns="45720" rIns="45720" bIns="45720" rtlCol="0">
            <a:noAutofit/>
          </a:bodyPr>
          <a:lstStyle/>
          <a:p>
            <a:pPr algn="ctr" defTabSz="914400" fontAlgn="base">
              <a:lnSpc>
                <a:spcPct val="90000"/>
              </a:lnSpc>
              <a:spcBef>
                <a:spcPts val="360"/>
              </a:spcBef>
              <a:spcAft>
                <a:spcPts val="567"/>
              </a:spcAft>
            </a:pPr>
            <a:r>
              <a:rPr lang="en-US" altLang="en-US" sz="2100" b="1" dirty="0">
                <a:latin typeface="ADLaM Display" panose="02010000000000000000" pitchFamily="2" charset="0"/>
                <a:ea typeface="ADLaM Display" panose="02010000000000000000" pitchFamily="2" charset="0"/>
                <a:cs typeface="ADLaM Display" panose="02010000000000000000" pitchFamily="2" charset="0"/>
              </a:rPr>
              <a:t>American International University-Bangladesh</a:t>
            </a:r>
          </a:p>
          <a:p>
            <a:pPr algn="ctr" defTabSz="914400" fontAlgn="base">
              <a:lnSpc>
                <a:spcPct val="90000"/>
              </a:lnSpc>
              <a:spcBef>
                <a:spcPts val="360"/>
              </a:spcBef>
              <a:spcAft>
                <a:spcPts val="567"/>
              </a:spcAft>
            </a:pPr>
            <a:r>
              <a:rPr lang="en-US" altLang="en-US" sz="2100" b="1" dirty="0">
                <a:latin typeface="ADLaM Display" panose="02010000000000000000" pitchFamily="2" charset="0"/>
                <a:ea typeface="ADLaM Display" panose="02010000000000000000" pitchFamily="2" charset="0"/>
                <a:cs typeface="ADLaM Display" panose="02010000000000000000" pitchFamily="2" charset="0"/>
              </a:rPr>
              <a:t>Department of Computer Science</a:t>
            </a:r>
            <a:endParaRPr lang="en-US" altLang="en-US" sz="2100" dirty="0">
              <a:latin typeface="ADLaM Display" panose="02010000000000000000" pitchFamily="2" charset="0"/>
              <a:ea typeface="ADLaM Display" panose="02010000000000000000" pitchFamily="2" charset="0"/>
              <a:cs typeface="ADLaM Display" panose="02010000000000000000" pitchFamily="2" charset="0"/>
            </a:endParaRPr>
          </a:p>
          <a:p>
            <a:pPr algn="ctr" defTabSz="914400" fontAlgn="base">
              <a:lnSpc>
                <a:spcPct val="90000"/>
              </a:lnSpc>
              <a:spcBef>
                <a:spcPts val="360"/>
              </a:spcBef>
              <a:spcAft>
                <a:spcPts val="567"/>
              </a:spcAft>
            </a:pPr>
            <a:r>
              <a:rPr lang="en-US" altLang="en-US" sz="2100" b="1" dirty="0">
                <a:latin typeface="ADLaM Display" panose="02010000000000000000" pitchFamily="2" charset="0"/>
                <a:ea typeface="ADLaM Display" panose="02010000000000000000" pitchFamily="2" charset="0"/>
                <a:cs typeface="ADLaM Display" panose="02010000000000000000" pitchFamily="2" charset="0"/>
              </a:rPr>
              <a:t>Introduction to Database</a:t>
            </a:r>
          </a:p>
          <a:p>
            <a:pPr marL="347472" indent="-347472" defTabSz="914400" fontAlgn="base">
              <a:lnSpc>
                <a:spcPct val="90000"/>
              </a:lnSpc>
              <a:spcBef>
                <a:spcPts val="360"/>
              </a:spcBef>
              <a:spcAft>
                <a:spcPts val="567"/>
              </a:spcAft>
              <a:buFont typeface="Arial" panose="020B0604020202020204" pitchFamily="34" charset="0"/>
              <a:buChar char="•"/>
            </a:pPr>
            <a:endParaRPr lang="en-US" altLang="en-US" sz="1500" dirty="0">
              <a:latin typeface="ADLaM Display" panose="02010000000000000000" pitchFamily="2" charset="0"/>
              <a:ea typeface="ADLaM Display" panose="02010000000000000000" pitchFamily="2" charset="0"/>
              <a:cs typeface="ADLaM Display" panose="02010000000000000000" pitchFamily="2" charset="0"/>
            </a:endParaRPr>
          </a:p>
          <a:p>
            <a:pPr marL="347472" indent="-347472" defTabSz="914400" fontAlgn="base">
              <a:lnSpc>
                <a:spcPct val="90000"/>
              </a:lnSpc>
              <a:spcBef>
                <a:spcPts val="360"/>
              </a:spcBef>
              <a:spcAft>
                <a:spcPts val="567"/>
              </a:spcAft>
              <a:buFont typeface="Arial" panose="020B0604020202020204" pitchFamily="34" charset="0"/>
              <a:buChar char="•"/>
            </a:pPr>
            <a:endParaRPr lang="en-US" altLang="en-US" sz="1500" dirty="0">
              <a:latin typeface="ADLaM Display" panose="02010000000000000000" pitchFamily="2" charset="0"/>
              <a:ea typeface="ADLaM Display" panose="02010000000000000000" pitchFamily="2" charset="0"/>
              <a:cs typeface="ADLaM Display" panose="02010000000000000000" pitchFamily="2" charset="0"/>
            </a:endParaRPr>
          </a:p>
          <a:p>
            <a:pPr defTabSz="914400" fontAlgn="base">
              <a:lnSpc>
                <a:spcPct val="90000"/>
              </a:lnSpc>
              <a:spcBef>
                <a:spcPts val="360"/>
              </a:spcBef>
              <a:spcAft>
                <a:spcPts val="567"/>
              </a:spcAft>
            </a:pPr>
            <a:r>
              <a:rPr lang="en-US" altLang="en-US" dirty="0">
                <a:latin typeface="Times New Roman" panose="02020603050405020304" pitchFamily="18" charset="0"/>
                <a:ea typeface="ADLaM Display" panose="02010000000000000000" pitchFamily="2" charset="0"/>
                <a:cs typeface="Times New Roman" panose="02020603050405020304" pitchFamily="18" charset="0"/>
              </a:rPr>
              <a:t>	</a:t>
            </a:r>
          </a:p>
          <a:p>
            <a:pPr defTabSz="914400" fontAlgn="base">
              <a:lnSpc>
                <a:spcPct val="90000"/>
              </a:lnSpc>
              <a:spcBef>
                <a:spcPts val="360"/>
              </a:spcBef>
              <a:spcAft>
                <a:spcPts val="567"/>
              </a:spcAft>
            </a:pPr>
            <a:r>
              <a:rPr lang="en-US" altLang="en-US" dirty="0">
                <a:latin typeface="Times New Roman" panose="02020603050405020304" pitchFamily="18" charset="0"/>
                <a:ea typeface="ADLaM Display" panose="02010000000000000000" pitchFamily="2" charset="0"/>
                <a:cs typeface="Times New Roman" panose="02020603050405020304" pitchFamily="18" charset="0"/>
              </a:rPr>
              <a:t>		</a:t>
            </a:r>
            <a:r>
              <a:rPr lang="en-US" altLang="en-US" sz="2100" dirty="0">
                <a:latin typeface="Times New Roman" panose="02020603050405020304" pitchFamily="18" charset="0"/>
                <a:ea typeface="ADLaM Display" panose="02010000000000000000" pitchFamily="2" charset="0"/>
                <a:cs typeface="Times New Roman" panose="02020603050405020304" pitchFamily="18" charset="0"/>
              </a:rPr>
              <a:t>Project: </a:t>
            </a:r>
            <a:r>
              <a:rPr lang="en-US" altLang="en-US" sz="2100" b="1" dirty="0">
                <a:latin typeface="Times New Roman" panose="02020603050405020304" pitchFamily="18" charset="0"/>
                <a:ea typeface="ADLaM Display" panose="02010000000000000000" pitchFamily="2" charset="0"/>
                <a:cs typeface="Times New Roman" panose="02020603050405020304" pitchFamily="18" charset="0"/>
              </a:rPr>
              <a:t>Criminal Face Detection System</a:t>
            </a:r>
          </a:p>
          <a:p>
            <a:pPr defTabSz="914400" fontAlgn="base">
              <a:lnSpc>
                <a:spcPct val="90000"/>
              </a:lnSpc>
              <a:spcBef>
                <a:spcPts val="360"/>
              </a:spcBef>
              <a:spcAft>
                <a:spcPts val="567"/>
              </a:spcAft>
            </a:pPr>
            <a:r>
              <a:rPr lang="en-US" altLang="en-US" sz="1500" dirty="0">
                <a:latin typeface="Times New Roman" panose="02020603050405020304" pitchFamily="18" charset="0"/>
                <a:ea typeface="ADLaM Display" panose="02010000000000000000" pitchFamily="2" charset="0"/>
                <a:cs typeface="Times New Roman" panose="02020603050405020304" pitchFamily="18" charset="0"/>
              </a:rPr>
              <a:t>		</a:t>
            </a:r>
            <a:r>
              <a:rPr lang="en-US" altLang="en-US" dirty="0">
                <a:latin typeface="Times New Roman" panose="02020603050405020304" pitchFamily="18" charset="0"/>
                <a:ea typeface="ADLaM Display" panose="02010000000000000000" pitchFamily="2" charset="0"/>
                <a:cs typeface="Times New Roman" panose="02020603050405020304" pitchFamily="18" charset="0"/>
              </a:rPr>
              <a:t>Section: [</a:t>
            </a:r>
            <a:r>
              <a:rPr lang="en-US" altLang="en-US" b="1" dirty="0">
                <a:latin typeface="Times New Roman" panose="02020603050405020304" pitchFamily="18" charset="0"/>
                <a:ea typeface="ADLaM Display" panose="02010000000000000000" pitchFamily="2" charset="0"/>
                <a:cs typeface="Times New Roman" panose="02020603050405020304" pitchFamily="18" charset="0"/>
              </a:rPr>
              <a:t>T</a:t>
            </a:r>
            <a:r>
              <a:rPr lang="en-US" altLang="en-US" dirty="0">
                <a:latin typeface="Times New Roman" panose="02020603050405020304" pitchFamily="18" charset="0"/>
                <a:ea typeface="ADLaM Display" panose="02010000000000000000" pitchFamily="2" charset="0"/>
                <a:cs typeface="Times New Roman" panose="02020603050405020304" pitchFamily="18" charset="0"/>
              </a:rPr>
              <a:t>]</a:t>
            </a:r>
          </a:p>
          <a:p>
            <a:pPr defTabSz="914400" fontAlgn="base">
              <a:lnSpc>
                <a:spcPct val="90000"/>
              </a:lnSpc>
              <a:spcBef>
                <a:spcPts val="360"/>
              </a:spcBef>
              <a:spcAft>
                <a:spcPts val="567"/>
              </a:spcAft>
            </a:pPr>
            <a:r>
              <a:rPr lang="en-US" altLang="en-US" dirty="0">
                <a:latin typeface="Times New Roman" panose="02020603050405020304" pitchFamily="18" charset="0"/>
                <a:ea typeface="ADLaM Display" panose="02010000000000000000" pitchFamily="2" charset="0"/>
                <a:cs typeface="Times New Roman" panose="02020603050405020304" pitchFamily="18" charset="0"/>
              </a:rPr>
              <a:t>		Group No: </a:t>
            </a:r>
            <a:r>
              <a:rPr lang="en-US" altLang="en-US" b="1" dirty="0">
                <a:latin typeface="Times New Roman" panose="02020603050405020304" pitchFamily="18" charset="0"/>
                <a:ea typeface="ADLaM Display" panose="02010000000000000000" pitchFamily="2" charset="0"/>
                <a:cs typeface="Times New Roman" panose="02020603050405020304" pitchFamily="18" charset="0"/>
              </a:rPr>
              <a:t>04 [CRUD Riders]</a:t>
            </a:r>
          </a:p>
          <a:p>
            <a:pPr defTabSz="914400" fontAlgn="base">
              <a:lnSpc>
                <a:spcPct val="90000"/>
              </a:lnSpc>
              <a:spcBef>
                <a:spcPts val="360"/>
              </a:spcBef>
              <a:spcAft>
                <a:spcPts val="567"/>
              </a:spcAft>
            </a:pPr>
            <a:r>
              <a:rPr lang="en-US" altLang="en-US" dirty="0">
                <a:latin typeface="Times New Roman" panose="02020603050405020304" pitchFamily="18" charset="0"/>
                <a:ea typeface="ADLaM Display" panose="02010000000000000000" pitchFamily="2" charset="0"/>
                <a:cs typeface="Times New Roman" panose="02020603050405020304" pitchFamily="18" charset="0"/>
              </a:rPr>
              <a:t>		Semester: </a:t>
            </a:r>
            <a:r>
              <a:rPr lang="en-US" altLang="en-US" b="1" dirty="0">
                <a:latin typeface="Times New Roman" panose="02020603050405020304" pitchFamily="18" charset="0"/>
                <a:ea typeface="ADLaM Display" panose="02010000000000000000" pitchFamily="2" charset="0"/>
                <a:cs typeface="Times New Roman" panose="02020603050405020304" pitchFamily="18" charset="0"/>
              </a:rPr>
              <a:t>Spring 23-24</a:t>
            </a:r>
          </a:p>
          <a:p>
            <a:pPr marL="347472" indent="-347472" defTabSz="914400" fontAlgn="base">
              <a:lnSpc>
                <a:spcPct val="90000"/>
              </a:lnSpc>
              <a:spcBef>
                <a:spcPts val="360"/>
              </a:spcBef>
              <a:spcAft>
                <a:spcPts val="567"/>
              </a:spcAft>
              <a:buFont typeface="Arial" panose="020B0604020202020204" pitchFamily="34" charset="0"/>
              <a:buChar char="•"/>
            </a:pPr>
            <a:endParaRPr lang="en-US" dirty="0">
              <a:latin typeface="Times New Roman" panose="02020603050405020304" pitchFamily="18" charset="0"/>
              <a:ea typeface="ADLaM Display" panose="02010000000000000000" pitchFamily="2" charset="0"/>
              <a:cs typeface="Times New Roman" panose="02020603050405020304" pitchFamily="18" charset="0"/>
            </a:endParaRPr>
          </a:p>
          <a:p>
            <a:pPr defTabSz="914400" fontAlgn="base">
              <a:lnSpc>
                <a:spcPct val="90000"/>
              </a:lnSpc>
              <a:spcBef>
                <a:spcPts val="360"/>
              </a:spcBef>
              <a:spcAft>
                <a:spcPts val="567"/>
              </a:spcAft>
            </a:pPr>
            <a:endParaRPr lang="en-US" dirty="0">
              <a:latin typeface="Times New Roman" panose="02020603050405020304" pitchFamily="18" charset="0"/>
              <a:ea typeface="ADLaM Display" panose="02010000000000000000" pitchFamily="2" charset="0"/>
              <a:cs typeface="Times New Roman" panose="02020603050405020304" pitchFamily="18" charset="0"/>
            </a:endParaRPr>
          </a:p>
          <a:p>
            <a:pPr algn="r" defTabSz="914400" fontAlgn="base">
              <a:lnSpc>
                <a:spcPct val="90000"/>
              </a:lnSpc>
              <a:spcBef>
                <a:spcPts val="360"/>
              </a:spcBef>
              <a:spcAft>
                <a:spcPts val="567"/>
              </a:spcAft>
            </a:pPr>
            <a:endParaRPr lang="en-US" dirty="0">
              <a:latin typeface="Times New Roman" panose="02020603050405020304" pitchFamily="18" charset="0"/>
              <a:ea typeface="ADLaM Display" panose="02010000000000000000" pitchFamily="2" charset="0"/>
              <a:cs typeface="Times New Roman" panose="02020603050405020304" pitchFamily="18" charset="0"/>
            </a:endParaRPr>
          </a:p>
          <a:p>
            <a:pPr algn="r" defTabSz="914400" fontAlgn="base">
              <a:lnSpc>
                <a:spcPct val="90000"/>
              </a:lnSpc>
              <a:spcBef>
                <a:spcPts val="360"/>
              </a:spcBef>
              <a:spcAft>
                <a:spcPts val="567"/>
              </a:spcAft>
            </a:pPr>
            <a:endParaRPr lang="en-US" dirty="0">
              <a:latin typeface="Times New Roman" panose="02020603050405020304" pitchFamily="18" charset="0"/>
              <a:ea typeface="ADLaM Display" panose="02010000000000000000" pitchFamily="2" charset="0"/>
              <a:cs typeface="Times New Roman" panose="02020603050405020304" pitchFamily="18" charset="0"/>
            </a:endParaRPr>
          </a:p>
          <a:p>
            <a:pPr algn="r" defTabSz="914400" fontAlgn="base">
              <a:lnSpc>
                <a:spcPct val="90000"/>
              </a:lnSpc>
              <a:spcBef>
                <a:spcPts val="360"/>
              </a:spcBef>
              <a:spcAft>
                <a:spcPts val="567"/>
              </a:spcAft>
            </a:pPr>
            <a:endParaRPr lang="en-US" dirty="0">
              <a:latin typeface="Times New Roman" panose="02020603050405020304" pitchFamily="18" charset="0"/>
              <a:ea typeface="ADLaM Display" panose="02010000000000000000" pitchFamily="2" charset="0"/>
              <a:cs typeface="Times New Roman" panose="02020603050405020304" pitchFamily="18" charset="0"/>
            </a:endParaRPr>
          </a:p>
          <a:p>
            <a:pPr algn="r" defTabSz="914400" fontAlgn="base">
              <a:lnSpc>
                <a:spcPct val="90000"/>
              </a:lnSpc>
              <a:spcBef>
                <a:spcPts val="360"/>
              </a:spcBef>
              <a:spcAft>
                <a:spcPts val="567"/>
              </a:spcAft>
            </a:pPr>
            <a:endParaRPr lang="en-US" dirty="0">
              <a:latin typeface="Times New Roman" panose="02020603050405020304" pitchFamily="18" charset="0"/>
              <a:ea typeface="ADLaM Display" panose="02010000000000000000" pitchFamily="2" charset="0"/>
              <a:cs typeface="Times New Roman" panose="02020603050405020304" pitchFamily="18" charset="0"/>
            </a:endParaRPr>
          </a:p>
          <a:p>
            <a:pPr algn="r" defTabSz="914400" fontAlgn="base">
              <a:lnSpc>
                <a:spcPct val="90000"/>
              </a:lnSpc>
              <a:spcBef>
                <a:spcPts val="360"/>
              </a:spcBef>
              <a:spcAft>
                <a:spcPts val="567"/>
              </a:spcAft>
            </a:pPr>
            <a:r>
              <a:rPr lang="en-US" dirty="0">
                <a:latin typeface="Times New Roman" panose="02020603050405020304" pitchFamily="18" charset="0"/>
                <a:ea typeface="ADLaM Display" panose="02010000000000000000" pitchFamily="2" charset="0"/>
                <a:cs typeface="Times New Roman" panose="02020603050405020304" pitchFamily="18" charset="0"/>
              </a:rPr>
              <a:t>Course Teacher: </a:t>
            </a:r>
            <a:r>
              <a:rPr lang="en-US" b="1" dirty="0">
                <a:latin typeface="Times New Roman" panose="02020603050405020304" pitchFamily="18" charset="0"/>
                <a:ea typeface="ADLaM Display" panose="02010000000000000000" pitchFamily="2" charset="0"/>
                <a:cs typeface="Times New Roman" panose="02020603050405020304" pitchFamily="18" charset="0"/>
              </a:rPr>
              <a:t>JUBAYER AHAMED</a:t>
            </a:r>
            <a:endParaRPr lang="en-US" dirty="0">
              <a:latin typeface="Times New Roman" panose="02020603050405020304" pitchFamily="18" charset="0"/>
              <a:ea typeface="ADLaM Display" panose="02010000000000000000" pitchFamily="2" charset="0"/>
              <a:cs typeface="Times New Roman" panose="02020603050405020304" pitchFamily="18" charset="0"/>
            </a:endParaRPr>
          </a:p>
          <a:p>
            <a:pPr algn="r" defTabSz="914400" fontAlgn="base">
              <a:lnSpc>
                <a:spcPct val="90000"/>
              </a:lnSpc>
              <a:spcBef>
                <a:spcPts val="360"/>
              </a:spcBef>
              <a:spcAft>
                <a:spcPts val="567"/>
              </a:spcAft>
            </a:pPr>
            <a:endParaRPr lang="en-US" dirty="0">
              <a:latin typeface="Times New Roman" panose="02020603050405020304" pitchFamily="18" charset="0"/>
              <a:ea typeface="ADLaM Display" panose="02010000000000000000" pitchFamily="2" charset="0"/>
              <a:cs typeface="Times New Roman" panose="02020603050405020304" pitchFamily="18" charset="0"/>
            </a:endParaRPr>
          </a:p>
          <a:p>
            <a:pPr defTabSz="914400" fontAlgn="base">
              <a:lnSpc>
                <a:spcPct val="90000"/>
              </a:lnSpc>
              <a:spcBef>
                <a:spcPts val="360"/>
              </a:spcBef>
              <a:spcAft>
                <a:spcPts val="567"/>
              </a:spcAft>
            </a:pPr>
            <a:endParaRPr lang="en-US" dirty="0">
              <a:latin typeface="Times New Roman" panose="02020603050405020304" pitchFamily="18" charset="0"/>
              <a:ea typeface="ADLaM Display" panose="02010000000000000000" pitchFamily="2" charset="0"/>
              <a:cs typeface="Times New Roman" panose="02020603050405020304" pitchFamily="18" charset="0"/>
            </a:endParaRPr>
          </a:p>
          <a:p>
            <a:pPr marL="347472" indent="-347472" defTabSz="914400" fontAlgn="base">
              <a:lnSpc>
                <a:spcPct val="90000"/>
              </a:lnSpc>
              <a:spcBef>
                <a:spcPts val="360"/>
              </a:spcBef>
              <a:spcAft>
                <a:spcPts val="567"/>
              </a:spcAft>
              <a:buFont typeface="Arial" panose="020B0604020202020204" pitchFamily="34" charset="0"/>
              <a:buChar char="•"/>
            </a:pPr>
            <a:endParaRPr lang="en-US" sz="1500" dirty="0">
              <a:latin typeface="ADLaM Display" panose="02010000000000000000" pitchFamily="2" charset="0"/>
              <a:ea typeface="ADLaM Display" panose="02010000000000000000" pitchFamily="2" charset="0"/>
              <a:cs typeface="ADLaM Display" panose="02010000000000000000" pitchFamily="2" charset="0"/>
            </a:endParaRPr>
          </a:p>
          <a:p>
            <a:pPr marL="347472" indent="-347472" defTabSz="914400" fontAlgn="base">
              <a:lnSpc>
                <a:spcPct val="90000"/>
              </a:lnSpc>
              <a:spcBef>
                <a:spcPts val="360"/>
              </a:spcBef>
              <a:spcAft>
                <a:spcPts val="567"/>
              </a:spcAft>
              <a:buFont typeface="Arial" panose="020B0604020202020204" pitchFamily="34" charset="0"/>
              <a:buChar char="•"/>
            </a:pPr>
            <a:endParaRPr lang="en-US" sz="1500" dirty="0">
              <a:latin typeface="ADLaM Display" panose="02010000000000000000" pitchFamily="2" charset="0"/>
              <a:ea typeface="ADLaM Display" panose="02010000000000000000" pitchFamily="2" charset="0"/>
              <a:cs typeface="ADLaM Display" panose="02010000000000000000" pitchFamily="2" charset="0"/>
            </a:endParaRPr>
          </a:p>
          <a:p>
            <a:pPr marL="347472" indent="-347472" defTabSz="914400" fontAlgn="base">
              <a:lnSpc>
                <a:spcPct val="90000"/>
              </a:lnSpc>
              <a:spcBef>
                <a:spcPts val="360"/>
              </a:spcBef>
              <a:spcAft>
                <a:spcPts val="567"/>
              </a:spcAft>
              <a:buFont typeface="Arial" panose="020B0604020202020204" pitchFamily="34" charset="0"/>
              <a:buChar char="•"/>
            </a:pPr>
            <a:endParaRPr lang="en-US" sz="15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785305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A5151D-6169-82DB-8027-3852B60676AF}"/>
              </a:ext>
            </a:extLst>
          </p:cNvPr>
          <p:cNvSpPr txBox="1"/>
          <p:nvPr/>
        </p:nvSpPr>
        <p:spPr>
          <a:xfrm>
            <a:off x="1998815" y="2056276"/>
            <a:ext cx="5233258" cy="400110"/>
          </a:xfrm>
          <a:prstGeom prst="rect">
            <a:avLst/>
          </a:prstGeom>
          <a:noFill/>
        </p:spPr>
        <p:txBody>
          <a:bodyPr wrap="square" rtlCol="0">
            <a:spAutoFit/>
          </a:bodyPr>
          <a:lstStyle/>
          <a:p>
            <a:r>
              <a:rPr lang="en-US" sz="2000" b="1" dirty="0"/>
              <a:t>CRUD Boy’s:</a:t>
            </a:r>
          </a:p>
        </p:txBody>
      </p:sp>
      <p:graphicFrame>
        <p:nvGraphicFramePr>
          <p:cNvPr id="6" name="Table 5">
            <a:extLst>
              <a:ext uri="{FF2B5EF4-FFF2-40B4-BE49-F238E27FC236}">
                <a16:creationId xmlns:a16="http://schemas.microsoft.com/office/drawing/2014/main" id="{8190BAE0-96AE-92AE-6C5B-E000271F13C5}"/>
              </a:ext>
            </a:extLst>
          </p:cNvPr>
          <p:cNvGraphicFramePr>
            <a:graphicFrameLocks noGrp="1"/>
          </p:cNvGraphicFramePr>
          <p:nvPr>
            <p:extLst>
              <p:ext uri="{D42A27DB-BD31-4B8C-83A1-F6EECF244321}">
                <p14:modId xmlns:p14="http://schemas.microsoft.com/office/powerpoint/2010/main" val="904584691"/>
              </p:ext>
            </p:extLst>
          </p:nvPr>
        </p:nvGraphicFramePr>
        <p:xfrm>
          <a:off x="2022912" y="2545080"/>
          <a:ext cx="8146175" cy="2225040"/>
        </p:xfrm>
        <a:graphic>
          <a:graphicData uri="http://schemas.openxmlformats.org/drawingml/2006/table">
            <a:tbl>
              <a:tblPr firstRow="1" bandRow="1">
                <a:tableStyleId>{2A488322-F2BA-4B5B-9748-0D474271808F}</a:tableStyleId>
              </a:tblPr>
              <a:tblGrid>
                <a:gridCol w="559118">
                  <a:extLst>
                    <a:ext uri="{9D8B030D-6E8A-4147-A177-3AD203B41FA5}">
                      <a16:colId xmlns:a16="http://schemas.microsoft.com/office/drawing/2014/main" val="267464964"/>
                    </a:ext>
                  </a:extLst>
                </a:gridCol>
                <a:gridCol w="4877724">
                  <a:extLst>
                    <a:ext uri="{9D8B030D-6E8A-4147-A177-3AD203B41FA5}">
                      <a16:colId xmlns:a16="http://schemas.microsoft.com/office/drawing/2014/main" val="2321047879"/>
                    </a:ext>
                  </a:extLst>
                </a:gridCol>
                <a:gridCol w="2709333">
                  <a:extLst>
                    <a:ext uri="{9D8B030D-6E8A-4147-A177-3AD203B41FA5}">
                      <a16:colId xmlns:a16="http://schemas.microsoft.com/office/drawing/2014/main" val="269300615"/>
                    </a:ext>
                  </a:extLst>
                </a:gridCol>
              </a:tblGrid>
              <a:tr h="370840">
                <a:tc>
                  <a:txBody>
                    <a:bodyPr/>
                    <a:lstStyle/>
                    <a:p>
                      <a:pPr algn="ctr"/>
                      <a:r>
                        <a:rPr lang="en-US" dirty="0"/>
                        <a:t>SL.</a:t>
                      </a:r>
                    </a:p>
                  </a:txBody>
                  <a:tcPr/>
                </a:tc>
                <a:tc>
                  <a:txBody>
                    <a:bodyPr/>
                    <a:lstStyle/>
                    <a:p>
                      <a:pPr algn="ctr"/>
                      <a:r>
                        <a:rPr lang="en-US" dirty="0"/>
                        <a:t>Members Name</a:t>
                      </a:r>
                    </a:p>
                  </a:txBody>
                  <a:tcPr/>
                </a:tc>
                <a:tc>
                  <a:txBody>
                    <a:bodyPr/>
                    <a:lstStyle/>
                    <a:p>
                      <a:pPr algn="ctr"/>
                      <a:r>
                        <a:rPr lang="en-US" dirty="0"/>
                        <a:t>ID</a:t>
                      </a:r>
                    </a:p>
                  </a:txBody>
                  <a:tcPr/>
                </a:tc>
                <a:extLst>
                  <a:ext uri="{0D108BD9-81ED-4DB2-BD59-A6C34878D82A}">
                    <a16:rowId xmlns:a16="http://schemas.microsoft.com/office/drawing/2014/main" val="1534662331"/>
                  </a:ext>
                </a:extLst>
              </a:tr>
              <a:tr h="370840">
                <a:tc>
                  <a:txBody>
                    <a:bodyPr/>
                    <a:lstStyle/>
                    <a:p>
                      <a:pPr algn="ctr"/>
                      <a:r>
                        <a:rPr lang="en-US" dirty="0"/>
                        <a:t>1.</a:t>
                      </a:r>
                    </a:p>
                  </a:txBody>
                  <a:tcPr/>
                </a:tc>
                <a:tc>
                  <a:txBody>
                    <a:bodyPr/>
                    <a:lstStyle/>
                    <a:p>
                      <a:pPr algn="ctr"/>
                      <a:r>
                        <a:rPr lang="en-US" dirty="0"/>
                        <a:t>JOY, MD. HOSNE JAIM</a:t>
                      </a:r>
                    </a:p>
                  </a:txBody>
                  <a:tcPr/>
                </a:tc>
                <a:tc>
                  <a:txBody>
                    <a:bodyPr/>
                    <a:lstStyle/>
                    <a:p>
                      <a:pPr algn="ctr"/>
                      <a:r>
                        <a:rPr lang="en-US" dirty="0"/>
                        <a:t>23-50947-1</a:t>
                      </a:r>
                    </a:p>
                  </a:txBody>
                  <a:tcPr/>
                </a:tc>
                <a:extLst>
                  <a:ext uri="{0D108BD9-81ED-4DB2-BD59-A6C34878D82A}">
                    <a16:rowId xmlns:a16="http://schemas.microsoft.com/office/drawing/2014/main" val="4246660702"/>
                  </a:ext>
                </a:extLst>
              </a:tr>
              <a:tr h="370840">
                <a:tc>
                  <a:txBody>
                    <a:bodyPr/>
                    <a:lstStyle/>
                    <a:p>
                      <a:pPr algn="ctr"/>
                      <a:r>
                        <a:rPr lang="en-US" dirty="0"/>
                        <a:t>2.</a:t>
                      </a:r>
                    </a:p>
                  </a:txBody>
                  <a:tcPr/>
                </a:tc>
                <a:tc>
                  <a:txBody>
                    <a:bodyPr/>
                    <a:lstStyle/>
                    <a:p>
                      <a:pPr algn="ctr"/>
                      <a:r>
                        <a:rPr lang="en-US" dirty="0"/>
                        <a:t>BHUIYAN, KAMRUL HASAN</a:t>
                      </a:r>
                    </a:p>
                  </a:txBody>
                  <a:tcPr/>
                </a:tc>
                <a:tc>
                  <a:txBody>
                    <a:bodyPr/>
                    <a:lstStyle/>
                    <a:p>
                      <a:pPr algn="ctr"/>
                      <a:r>
                        <a:rPr lang="en-US" dirty="0"/>
                        <a:t>23-50831-1</a:t>
                      </a:r>
                    </a:p>
                  </a:txBody>
                  <a:tcPr/>
                </a:tc>
                <a:extLst>
                  <a:ext uri="{0D108BD9-81ED-4DB2-BD59-A6C34878D82A}">
                    <a16:rowId xmlns:a16="http://schemas.microsoft.com/office/drawing/2014/main" val="783747486"/>
                  </a:ext>
                </a:extLst>
              </a:tr>
              <a:tr h="370840">
                <a:tc>
                  <a:txBody>
                    <a:bodyPr/>
                    <a:lstStyle/>
                    <a:p>
                      <a:pPr algn="ctr"/>
                      <a:r>
                        <a:rPr lang="en-US" dirty="0"/>
                        <a:t>3.</a:t>
                      </a:r>
                    </a:p>
                  </a:txBody>
                  <a:tcPr/>
                </a:tc>
                <a:tc>
                  <a:txBody>
                    <a:bodyPr/>
                    <a:lstStyle/>
                    <a:p>
                      <a:pPr algn="ctr"/>
                      <a:r>
                        <a:rPr lang="en-US" dirty="0"/>
                        <a:t>RAKIB, MD SANUAR ALAM</a:t>
                      </a:r>
                    </a:p>
                  </a:txBody>
                  <a:tcPr/>
                </a:tc>
                <a:tc>
                  <a:txBody>
                    <a:bodyPr/>
                    <a:lstStyle/>
                    <a:p>
                      <a:pPr algn="ctr"/>
                      <a:r>
                        <a:rPr lang="en-US" dirty="0"/>
                        <a:t>23-50982-1</a:t>
                      </a:r>
                    </a:p>
                  </a:txBody>
                  <a:tcPr/>
                </a:tc>
                <a:extLst>
                  <a:ext uri="{0D108BD9-81ED-4DB2-BD59-A6C34878D82A}">
                    <a16:rowId xmlns:a16="http://schemas.microsoft.com/office/drawing/2014/main" val="1667020605"/>
                  </a:ext>
                </a:extLst>
              </a:tr>
              <a:tr h="370840">
                <a:tc>
                  <a:txBody>
                    <a:bodyPr/>
                    <a:lstStyle/>
                    <a:p>
                      <a:pPr algn="ctr"/>
                      <a:r>
                        <a:rPr lang="en-US" dirty="0"/>
                        <a:t>4.</a:t>
                      </a:r>
                    </a:p>
                  </a:txBody>
                  <a:tcPr/>
                </a:tc>
                <a:tc>
                  <a:txBody>
                    <a:bodyPr/>
                    <a:lstStyle/>
                    <a:p>
                      <a:pPr algn="ctr"/>
                      <a:r>
                        <a:rPr lang="en-US" dirty="0"/>
                        <a:t>SHAHADOUT, MD. EFAT AL KHALID</a:t>
                      </a:r>
                    </a:p>
                  </a:txBody>
                  <a:tcPr/>
                </a:tc>
                <a:tc>
                  <a:txBody>
                    <a:bodyPr/>
                    <a:lstStyle/>
                    <a:p>
                      <a:pPr algn="ctr"/>
                      <a:r>
                        <a:rPr lang="en-US" dirty="0"/>
                        <a:t>23-50823-1</a:t>
                      </a:r>
                    </a:p>
                  </a:txBody>
                  <a:tcPr/>
                </a:tc>
                <a:extLst>
                  <a:ext uri="{0D108BD9-81ED-4DB2-BD59-A6C34878D82A}">
                    <a16:rowId xmlns:a16="http://schemas.microsoft.com/office/drawing/2014/main" val="3996490522"/>
                  </a:ext>
                </a:extLst>
              </a:tr>
              <a:tr h="370840">
                <a:tc>
                  <a:txBody>
                    <a:bodyPr/>
                    <a:lstStyle/>
                    <a:p>
                      <a:pPr algn="ctr"/>
                      <a:r>
                        <a:rPr lang="en-US" dirty="0"/>
                        <a:t>5.</a:t>
                      </a:r>
                    </a:p>
                  </a:txBody>
                  <a:tcPr/>
                </a:tc>
                <a:tc>
                  <a:txBody>
                    <a:bodyPr/>
                    <a:lstStyle/>
                    <a:p>
                      <a:pPr algn="ctr"/>
                      <a:r>
                        <a:rPr lang="en-US" dirty="0"/>
                        <a:t>SINA, MD. ABDULLA IBNA</a:t>
                      </a:r>
                    </a:p>
                  </a:txBody>
                  <a:tcPr/>
                </a:tc>
                <a:tc>
                  <a:txBody>
                    <a:bodyPr/>
                    <a:lstStyle/>
                    <a:p>
                      <a:pPr algn="ctr"/>
                      <a:r>
                        <a:rPr lang="en-US" dirty="0"/>
                        <a:t>23-50331-1</a:t>
                      </a:r>
                    </a:p>
                  </a:txBody>
                  <a:tcPr/>
                </a:tc>
                <a:extLst>
                  <a:ext uri="{0D108BD9-81ED-4DB2-BD59-A6C34878D82A}">
                    <a16:rowId xmlns:a16="http://schemas.microsoft.com/office/drawing/2014/main" val="4266444363"/>
                  </a:ext>
                </a:extLst>
              </a:tr>
            </a:tbl>
          </a:graphicData>
        </a:graphic>
      </p:graphicFrame>
    </p:spTree>
    <p:extLst>
      <p:ext uri="{BB962C8B-B14F-4D97-AF65-F5344CB8AC3E}">
        <p14:creationId xmlns:p14="http://schemas.microsoft.com/office/powerpoint/2010/main" val="61393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0" y="0"/>
            <a:ext cx="12192000" cy="6858000"/>
          </a:xfrm>
          <a:prstGeom prst="rect">
            <a:avLst/>
          </a:prstGeom>
          <a:solidFill>
            <a:schemeClr val="accent6">
              <a:lumMod val="40000"/>
              <a:lumOff val="6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lumMod val="95000"/>
                  <a:lumOff val="5000"/>
                </a:schemeClr>
              </a:solid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rot="5400000">
            <a:off x="-939189" y="3695689"/>
            <a:ext cx="5404526" cy="679618"/>
          </a:xfrm>
          <a:prstGeom prst="roundRect">
            <a:avLst/>
          </a:prstGeom>
          <a:gradFill flip="none" rotWithShape="1">
            <a:gsLst>
              <a:gs pos="0">
                <a:schemeClr val="accent1">
                  <a:lumMod val="10000"/>
                  <a:tint val="66000"/>
                  <a:satMod val="160000"/>
                </a:schemeClr>
              </a:gs>
              <a:gs pos="50000">
                <a:schemeClr val="accent1">
                  <a:lumMod val="10000"/>
                  <a:tint val="44500"/>
                  <a:satMod val="160000"/>
                </a:schemeClr>
              </a:gs>
              <a:gs pos="100000">
                <a:schemeClr val="accent1">
                  <a:lumMod val="10000"/>
                  <a:tint val="23500"/>
                  <a:satMod val="160000"/>
                </a:schemeClr>
              </a:gs>
            </a:gsLst>
            <a:lin ang="13500000" scaled="1"/>
            <a:tileRect/>
          </a:gra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1872002" y="1733828"/>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1882742" y="5883673"/>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1872002" y="4975525"/>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1847466" y="4189786"/>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1872002" y="3355298"/>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1882744" y="2545425"/>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3A566F6-3D42-9783-7F6E-43072F4EC5BA}"/>
              </a:ext>
            </a:extLst>
          </p:cNvPr>
          <p:cNvSpPr txBox="1"/>
          <p:nvPr/>
        </p:nvSpPr>
        <p:spPr>
          <a:xfrm>
            <a:off x="4158021" y="475921"/>
            <a:ext cx="3508310" cy="630942"/>
          </a:xfrm>
          <a:prstGeom prst="rect">
            <a:avLst/>
          </a:prstGeom>
          <a:noFill/>
        </p:spPr>
        <p:txBody>
          <a:bodyPr wrap="square" rtlCol="0">
            <a:spAutoFit/>
          </a:bodyPr>
          <a:lstStyle/>
          <a:p>
            <a:r>
              <a:rPr lang="en-US" sz="3500" u="sng" dirty="0">
                <a:solidFill>
                  <a:schemeClr val="bg1"/>
                </a:solidFill>
                <a:latin typeface="+mj-lt"/>
              </a:rPr>
              <a:t>Outline</a:t>
            </a:r>
          </a:p>
        </p:txBody>
      </p:sp>
      <p:sp>
        <p:nvSpPr>
          <p:cNvPr id="4" name="Arrow: Right 3">
            <a:extLst>
              <a:ext uri="{FF2B5EF4-FFF2-40B4-BE49-F238E27FC236}">
                <a16:creationId xmlns:a16="http://schemas.microsoft.com/office/drawing/2014/main" id="{B1F3513B-0B03-7D7C-76BA-C1C186ED8558}"/>
              </a:ext>
            </a:extLst>
          </p:cNvPr>
          <p:cNvSpPr/>
          <p:nvPr/>
        </p:nvSpPr>
        <p:spPr>
          <a:xfrm>
            <a:off x="2551620" y="1733828"/>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E2745EFA-962D-7B30-B12D-A61A057B04B7}"/>
              </a:ext>
            </a:extLst>
          </p:cNvPr>
          <p:cNvSpPr/>
          <p:nvPr/>
        </p:nvSpPr>
        <p:spPr>
          <a:xfrm>
            <a:off x="2551620" y="58588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446C67A1-F461-AEA6-5228-9058CA842F98}"/>
              </a:ext>
            </a:extLst>
          </p:cNvPr>
          <p:cNvSpPr/>
          <p:nvPr/>
        </p:nvSpPr>
        <p:spPr>
          <a:xfrm>
            <a:off x="2548171" y="49679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FF920094-1A40-3923-E590-3B90F427DF91}"/>
              </a:ext>
            </a:extLst>
          </p:cNvPr>
          <p:cNvSpPr/>
          <p:nvPr/>
        </p:nvSpPr>
        <p:spPr>
          <a:xfrm>
            <a:off x="2534152" y="4213584"/>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148323BA-CA75-74A3-8939-7415D50A4C4A}"/>
              </a:ext>
            </a:extLst>
          </p:cNvPr>
          <p:cNvSpPr/>
          <p:nvPr/>
        </p:nvSpPr>
        <p:spPr>
          <a:xfrm>
            <a:off x="2548171" y="251949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B7FA9CAF-E684-BAF4-7B13-6DEB80387380}"/>
              </a:ext>
            </a:extLst>
          </p:cNvPr>
          <p:cNvSpPr/>
          <p:nvPr/>
        </p:nvSpPr>
        <p:spPr>
          <a:xfrm>
            <a:off x="2551620" y="3396655"/>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CD5F74-2409-E42E-E52A-8CD251BB26C0}"/>
              </a:ext>
            </a:extLst>
          </p:cNvPr>
          <p:cNvSpPr txBox="1"/>
          <p:nvPr/>
        </p:nvSpPr>
        <p:spPr>
          <a:xfrm>
            <a:off x="3446700" y="1658465"/>
            <a:ext cx="7666650" cy="630942"/>
          </a:xfrm>
          <a:prstGeom prst="rect">
            <a:avLst/>
          </a:prstGeom>
          <a:noFill/>
        </p:spPr>
        <p:txBody>
          <a:bodyPr wrap="square" rtlCol="0">
            <a:spAutoFit/>
          </a:bodyPr>
          <a:lstStyle/>
          <a:p>
            <a:r>
              <a:rPr lang="en-US" sz="3500" b="1" dirty="0">
                <a:solidFill>
                  <a:srgbClr val="000000"/>
                </a:solidFill>
              </a:rPr>
              <a:t>Introduction</a:t>
            </a:r>
          </a:p>
        </p:txBody>
      </p:sp>
      <p:sp>
        <p:nvSpPr>
          <p:cNvPr id="12" name="TextBox 11">
            <a:extLst>
              <a:ext uri="{FF2B5EF4-FFF2-40B4-BE49-F238E27FC236}">
                <a16:creationId xmlns:a16="http://schemas.microsoft.com/office/drawing/2014/main" id="{7D12DD0A-B5EA-AD9F-9188-37A17C1660BE}"/>
              </a:ext>
            </a:extLst>
          </p:cNvPr>
          <p:cNvSpPr txBox="1"/>
          <p:nvPr/>
        </p:nvSpPr>
        <p:spPr>
          <a:xfrm>
            <a:off x="3454560" y="3370958"/>
            <a:ext cx="2912977" cy="477054"/>
          </a:xfrm>
          <a:prstGeom prst="rect">
            <a:avLst/>
          </a:prstGeom>
          <a:noFill/>
        </p:spPr>
        <p:txBody>
          <a:bodyPr wrap="none" rtlCol="0">
            <a:spAutoFit/>
          </a:bodyPr>
          <a:lstStyle/>
          <a:p>
            <a:r>
              <a:rPr lang="en-US" sz="2500" b="1" dirty="0"/>
              <a:t>Database Structure</a:t>
            </a:r>
          </a:p>
        </p:txBody>
      </p:sp>
      <p:sp>
        <p:nvSpPr>
          <p:cNvPr id="13" name="TextBox 12">
            <a:extLst>
              <a:ext uri="{FF2B5EF4-FFF2-40B4-BE49-F238E27FC236}">
                <a16:creationId xmlns:a16="http://schemas.microsoft.com/office/drawing/2014/main" id="{5CF7BCB5-D23A-5B2B-F968-84FD8605367F}"/>
              </a:ext>
            </a:extLst>
          </p:cNvPr>
          <p:cNvSpPr txBox="1"/>
          <p:nvPr/>
        </p:nvSpPr>
        <p:spPr>
          <a:xfrm>
            <a:off x="3429232" y="4205023"/>
            <a:ext cx="6211957" cy="477054"/>
          </a:xfrm>
          <a:prstGeom prst="rect">
            <a:avLst/>
          </a:prstGeom>
          <a:noFill/>
        </p:spPr>
        <p:txBody>
          <a:bodyPr wrap="none" rtlCol="0">
            <a:spAutoFit/>
          </a:bodyPr>
          <a:lstStyle/>
          <a:p>
            <a:r>
              <a:rPr lang="en-US" sz="2500" b="1" kern="100" dirty="0"/>
              <a:t>How the System works &amp; Java connection</a:t>
            </a:r>
            <a:endParaRPr lang="en-US" sz="2500" b="1" dirty="0"/>
          </a:p>
        </p:txBody>
      </p:sp>
      <p:sp>
        <p:nvSpPr>
          <p:cNvPr id="14" name="TextBox 13">
            <a:extLst>
              <a:ext uri="{FF2B5EF4-FFF2-40B4-BE49-F238E27FC236}">
                <a16:creationId xmlns:a16="http://schemas.microsoft.com/office/drawing/2014/main" id="{8996C7C8-A78F-96AC-4F51-1FCCBFAFF6B6}"/>
              </a:ext>
            </a:extLst>
          </p:cNvPr>
          <p:cNvSpPr txBox="1"/>
          <p:nvPr/>
        </p:nvSpPr>
        <p:spPr>
          <a:xfrm>
            <a:off x="3456821" y="5008892"/>
            <a:ext cx="4602542" cy="477054"/>
          </a:xfrm>
          <a:prstGeom prst="rect">
            <a:avLst/>
          </a:prstGeom>
          <a:noFill/>
        </p:spPr>
        <p:txBody>
          <a:bodyPr wrap="none" rtlCol="0">
            <a:spAutoFit/>
          </a:bodyPr>
          <a:lstStyle/>
          <a:p>
            <a:r>
              <a:rPr lang="en-US" sz="2500" b="1" dirty="0"/>
              <a:t>Challenges &amp; Future Objective</a:t>
            </a:r>
          </a:p>
        </p:txBody>
      </p:sp>
      <p:sp>
        <p:nvSpPr>
          <p:cNvPr id="15" name="TextBox 14">
            <a:extLst>
              <a:ext uri="{FF2B5EF4-FFF2-40B4-BE49-F238E27FC236}">
                <a16:creationId xmlns:a16="http://schemas.microsoft.com/office/drawing/2014/main" id="{B9A85109-5057-C308-5C55-D764A7F529D1}"/>
              </a:ext>
            </a:extLst>
          </p:cNvPr>
          <p:cNvSpPr txBox="1"/>
          <p:nvPr/>
        </p:nvSpPr>
        <p:spPr>
          <a:xfrm>
            <a:off x="3456821" y="5872283"/>
            <a:ext cx="1832553" cy="477054"/>
          </a:xfrm>
          <a:prstGeom prst="rect">
            <a:avLst/>
          </a:prstGeom>
          <a:noFill/>
        </p:spPr>
        <p:txBody>
          <a:bodyPr wrap="none" rtlCol="0">
            <a:spAutoFit/>
          </a:bodyPr>
          <a:lstStyle/>
          <a:p>
            <a:r>
              <a:rPr lang="en-US" sz="2500" b="1" dirty="0"/>
              <a:t>Conclusion</a:t>
            </a:r>
          </a:p>
        </p:txBody>
      </p:sp>
      <p:sp>
        <p:nvSpPr>
          <p:cNvPr id="17" name="TextBox 16">
            <a:extLst>
              <a:ext uri="{FF2B5EF4-FFF2-40B4-BE49-F238E27FC236}">
                <a16:creationId xmlns:a16="http://schemas.microsoft.com/office/drawing/2014/main" id="{4A5A442F-4ADE-8514-4E3A-7BAA3C621266}"/>
              </a:ext>
            </a:extLst>
          </p:cNvPr>
          <p:cNvSpPr txBox="1"/>
          <p:nvPr/>
        </p:nvSpPr>
        <p:spPr>
          <a:xfrm>
            <a:off x="3521460" y="2529721"/>
            <a:ext cx="264816" cy="477054"/>
          </a:xfrm>
          <a:prstGeom prst="rect">
            <a:avLst/>
          </a:prstGeom>
          <a:noFill/>
        </p:spPr>
        <p:txBody>
          <a:bodyPr wrap="none" rtlCol="0">
            <a:spAutoFit/>
          </a:bodyPr>
          <a:lstStyle/>
          <a:p>
            <a:r>
              <a:rPr lang="en-US" sz="2500" b="1" dirty="0"/>
              <a:t> </a:t>
            </a:r>
          </a:p>
        </p:txBody>
      </p:sp>
      <p:sp>
        <p:nvSpPr>
          <p:cNvPr id="21" name="Freeform: Shape 20">
            <a:extLst>
              <a:ext uri="{FF2B5EF4-FFF2-40B4-BE49-F238E27FC236}">
                <a16:creationId xmlns:a16="http://schemas.microsoft.com/office/drawing/2014/main" id="{3EA4A5E4-4D32-3451-6BC7-7DDD211120A3}"/>
              </a:ext>
            </a:extLst>
          </p:cNvPr>
          <p:cNvSpPr/>
          <p:nvPr/>
        </p:nvSpPr>
        <p:spPr>
          <a:xfrm rot="5400000">
            <a:off x="5874792" y="628577"/>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7B6F01AC-0167-697C-B9DE-A04D0A485689}"/>
              </a:ext>
            </a:extLst>
          </p:cNvPr>
          <p:cNvSpPr/>
          <p:nvPr/>
        </p:nvSpPr>
        <p:spPr>
          <a:xfrm rot="10800000">
            <a:off x="6412422" y="99980"/>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89F029B-3062-AB86-0DF5-7EFB6D1B1361}"/>
              </a:ext>
            </a:extLst>
          </p:cNvPr>
          <p:cNvSpPr/>
          <p:nvPr/>
        </p:nvSpPr>
        <p:spPr>
          <a:xfrm>
            <a:off x="6423598" y="1168534"/>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A5CAB041-B09B-2FED-CD31-E2B39C46ECE2}"/>
              </a:ext>
            </a:extLst>
          </p:cNvPr>
          <p:cNvSpPr/>
          <p:nvPr/>
        </p:nvSpPr>
        <p:spPr>
          <a:xfrm rot="16200000">
            <a:off x="6958273" y="631216"/>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6" name="Freeform: Shape 25">
            <a:extLst>
              <a:ext uri="{FF2B5EF4-FFF2-40B4-BE49-F238E27FC236}">
                <a16:creationId xmlns:a16="http://schemas.microsoft.com/office/drawing/2014/main" id="{78F656AF-565B-2768-A0B2-2032518DC660}"/>
              </a:ext>
            </a:extLst>
          </p:cNvPr>
          <p:cNvSpPr/>
          <p:nvPr/>
        </p:nvSpPr>
        <p:spPr>
          <a:xfrm>
            <a:off x="6421222" y="849297"/>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7" name="Freeform: Shape 26">
            <a:extLst>
              <a:ext uri="{FF2B5EF4-FFF2-40B4-BE49-F238E27FC236}">
                <a16:creationId xmlns:a16="http://schemas.microsoft.com/office/drawing/2014/main" id="{814650D4-0601-213D-C0B0-83925E348D0B}"/>
              </a:ext>
            </a:extLst>
          </p:cNvPr>
          <p:cNvSpPr/>
          <p:nvPr/>
        </p:nvSpPr>
        <p:spPr>
          <a:xfrm rot="10800000">
            <a:off x="6423598" y="433185"/>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18" name="TextBox 17">
            <a:extLst>
              <a:ext uri="{FF2B5EF4-FFF2-40B4-BE49-F238E27FC236}">
                <a16:creationId xmlns:a16="http://schemas.microsoft.com/office/drawing/2014/main" id="{E0252BE9-7EF8-A765-203E-FA02556F648F}"/>
              </a:ext>
            </a:extLst>
          </p:cNvPr>
          <p:cNvSpPr txBox="1"/>
          <p:nvPr/>
        </p:nvSpPr>
        <p:spPr>
          <a:xfrm>
            <a:off x="3456821" y="2545425"/>
            <a:ext cx="3958135" cy="861774"/>
          </a:xfrm>
          <a:prstGeom prst="rect">
            <a:avLst/>
          </a:prstGeom>
          <a:noFill/>
        </p:spPr>
        <p:txBody>
          <a:bodyPr wrap="none" rtlCol="0">
            <a:spAutoFit/>
          </a:bodyPr>
          <a:lstStyle/>
          <a:p>
            <a:r>
              <a:rPr lang="en-US" sz="2500" b="1" dirty="0"/>
              <a:t>Case Study &amp; ER Diagram</a:t>
            </a:r>
          </a:p>
          <a:p>
            <a:endParaRPr lang="en-US" sz="2500" b="1" dirty="0"/>
          </a:p>
        </p:txBody>
      </p:sp>
    </p:spTree>
    <p:extLst>
      <p:ext uri="{BB962C8B-B14F-4D97-AF65-F5344CB8AC3E}">
        <p14:creationId xmlns:p14="http://schemas.microsoft.com/office/powerpoint/2010/main" val="1595204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ppt_x"/>
                                          </p:val>
                                        </p:tav>
                                        <p:tav tm="100000">
                                          <p:val>
                                            <p:strVal val="#ppt_x"/>
                                          </p:val>
                                        </p:tav>
                                      </p:tavLst>
                                    </p:anim>
                                    <p:anim calcmode="lin" valueType="num">
                                      <p:cBhvr additive="base">
                                        <p:cTn id="5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p:bldP spid="12" grpId="0"/>
      <p:bldP spid="13" grpId="0"/>
      <p:bldP spid="14" grpId="0"/>
      <p:bldP spid="15"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0" y="0"/>
            <a:ext cx="12192000" cy="6858000"/>
          </a:xfrm>
          <a:prstGeom prst="rect">
            <a:avLst/>
          </a:prstGeom>
          <a:solidFill>
            <a:schemeClr val="accent6">
              <a:lumMod val="40000"/>
              <a:lumOff val="6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lumMod val="95000"/>
                  <a:lumOff val="5000"/>
                </a:schemeClr>
              </a:solid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rot="5400000">
            <a:off x="-939189" y="3695689"/>
            <a:ext cx="5404526" cy="679618"/>
          </a:xfrm>
          <a:prstGeom prst="roundRect">
            <a:avLst/>
          </a:prstGeom>
          <a:gradFill flip="none" rotWithShape="1">
            <a:gsLst>
              <a:gs pos="0">
                <a:schemeClr val="accent1">
                  <a:lumMod val="10000"/>
                  <a:tint val="66000"/>
                  <a:satMod val="160000"/>
                </a:schemeClr>
              </a:gs>
              <a:gs pos="50000">
                <a:schemeClr val="accent1">
                  <a:lumMod val="10000"/>
                  <a:tint val="44500"/>
                  <a:satMod val="160000"/>
                </a:schemeClr>
              </a:gs>
              <a:gs pos="100000">
                <a:schemeClr val="accent1">
                  <a:lumMod val="10000"/>
                  <a:tint val="23500"/>
                  <a:satMod val="160000"/>
                </a:schemeClr>
              </a:gs>
            </a:gsLst>
            <a:lin ang="13500000" scaled="1"/>
            <a:tileRect/>
          </a:gra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1872002" y="1733828"/>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1882742" y="5883673"/>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1872002" y="4975525"/>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1847466" y="4189786"/>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1872002" y="3355298"/>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1882744" y="2545425"/>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3A566F6-3D42-9783-7F6E-43072F4EC5BA}"/>
              </a:ext>
            </a:extLst>
          </p:cNvPr>
          <p:cNvSpPr txBox="1"/>
          <p:nvPr/>
        </p:nvSpPr>
        <p:spPr>
          <a:xfrm>
            <a:off x="4158021" y="475921"/>
            <a:ext cx="3508310" cy="630942"/>
          </a:xfrm>
          <a:prstGeom prst="rect">
            <a:avLst/>
          </a:prstGeom>
          <a:noFill/>
        </p:spPr>
        <p:txBody>
          <a:bodyPr wrap="square" rtlCol="0">
            <a:spAutoFit/>
          </a:bodyPr>
          <a:lstStyle/>
          <a:p>
            <a:r>
              <a:rPr lang="en-US" sz="3500" u="sng" dirty="0">
                <a:solidFill>
                  <a:schemeClr val="bg1"/>
                </a:solidFill>
                <a:latin typeface="+mj-lt"/>
              </a:rPr>
              <a:t>Outline</a:t>
            </a:r>
          </a:p>
        </p:txBody>
      </p:sp>
      <p:sp>
        <p:nvSpPr>
          <p:cNvPr id="4" name="Arrow: Right 3">
            <a:extLst>
              <a:ext uri="{FF2B5EF4-FFF2-40B4-BE49-F238E27FC236}">
                <a16:creationId xmlns:a16="http://schemas.microsoft.com/office/drawing/2014/main" id="{B1F3513B-0B03-7D7C-76BA-C1C186ED8558}"/>
              </a:ext>
            </a:extLst>
          </p:cNvPr>
          <p:cNvSpPr/>
          <p:nvPr/>
        </p:nvSpPr>
        <p:spPr>
          <a:xfrm>
            <a:off x="2551620" y="1733828"/>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E2745EFA-962D-7B30-B12D-A61A057B04B7}"/>
              </a:ext>
            </a:extLst>
          </p:cNvPr>
          <p:cNvSpPr/>
          <p:nvPr/>
        </p:nvSpPr>
        <p:spPr>
          <a:xfrm>
            <a:off x="2551620" y="58588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446C67A1-F461-AEA6-5228-9058CA842F98}"/>
              </a:ext>
            </a:extLst>
          </p:cNvPr>
          <p:cNvSpPr/>
          <p:nvPr/>
        </p:nvSpPr>
        <p:spPr>
          <a:xfrm>
            <a:off x="2548171" y="49679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FF920094-1A40-3923-E590-3B90F427DF91}"/>
              </a:ext>
            </a:extLst>
          </p:cNvPr>
          <p:cNvSpPr/>
          <p:nvPr/>
        </p:nvSpPr>
        <p:spPr>
          <a:xfrm>
            <a:off x="2534152" y="4213584"/>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148323BA-CA75-74A3-8939-7415D50A4C4A}"/>
              </a:ext>
            </a:extLst>
          </p:cNvPr>
          <p:cNvSpPr/>
          <p:nvPr/>
        </p:nvSpPr>
        <p:spPr>
          <a:xfrm>
            <a:off x="2548171" y="251949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B7FA9CAF-E684-BAF4-7B13-6DEB80387380}"/>
              </a:ext>
            </a:extLst>
          </p:cNvPr>
          <p:cNvSpPr/>
          <p:nvPr/>
        </p:nvSpPr>
        <p:spPr>
          <a:xfrm>
            <a:off x="2551620" y="3396655"/>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CD5F74-2409-E42E-E52A-8CD251BB26C0}"/>
              </a:ext>
            </a:extLst>
          </p:cNvPr>
          <p:cNvSpPr txBox="1"/>
          <p:nvPr/>
        </p:nvSpPr>
        <p:spPr>
          <a:xfrm>
            <a:off x="3446700" y="1762010"/>
            <a:ext cx="7666650" cy="477054"/>
          </a:xfrm>
          <a:prstGeom prst="rect">
            <a:avLst/>
          </a:prstGeom>
          <a:noFill/>
        </p:spPr>
        <p:txBody>
          <a:bodyPr wrap="square" rtlCol="0">
            <a:spAutoFit/>
          </a:bodyPr>
          <a:lstStyle/>
          <a:p>
            <a:r>
              <a:rPr lang="en-US" sz="2500" b="1" dirty="0">
                <a:solidFill>
                  <a:srgbClr val="000000"/>
                </a:solidFill>
              </a:rPr>
              <a:t>Introduction</a:t>
            </a:r>
          </a:p>
        </p:txBody>
      </p:sp>
      <p:sp>
        <p:nvSpPr>
          <p:cNvPr id="12" name="TextBox 11">
            <a:extLst>
              <a:ext uri="{FF2B5EF4-FFF2-40B4-BE49-F238E27FC236}">
                <a16:creationId xmlns:a16="http://schemas.microsoft.com/office/drawing/2014/main" id="{7D12DD0A-B5EA-AD9F-9188-37A17C1660BE}"/>
              </a:ext>
            </a:extLst>
          </p:cNvPr>
          <p:cNvSpPr txBox="1"/>
          <p:nvPr/>
        </p:nvSpPr>
        <p:spPr>
          <a:xfrm>
            <a:off x="3454560" y="3370958"/>
            <a:ext cx="2912977" cy="477054"/>
          </a:xfrm>
          <a:prstGeom prst="rect">
            <a:avLst/>
          </a:prstGeom>
          <a:noFill/>
        </p:spPr>
        <p:txBody>
          <a:bodyPr wrap="none" rtlCol="0">
            <a:spAutoFit/>
          </a:bodyPr>
          <a:lstStyle/>
          <a:p>
            <a:r>
              <a:rPr lang="en-US" sz="2500" b="1" dirty="0"/>
              <a:t>Database Structure</a:t>
            </a:r>
          </a:p>
        </p:txBody>
      </p:sp>
      <p:sp>
        <p:nvSpPr>
          <p:cNvPr id="13" name="TextBox 12">
            <a:extLst>
              <a:ext uri="{FF2B5EF4-FFF2-40B4-BE49-F238E27FC236}">
                <a16:creationId xmlns:a16="http://schemas.microsoft.com/office/drawing/2014/main" id="{5CF7BCB5-D23A-5B2B-F968-84FD8605367F}"/>
              </a:ext>
            </a:extLst>
          </p:cNvPr>
          <p:cNvSpPr txBox="1"/>
          <p:nvPr/>
        </p:nvSpPr>
        <p:spPr>
          <a:xfrm>
            <a:off x="3429232" y="4205023"/>
            <a:ext cx="6211957" cy="477054"/>
          </a:xfrm>
          <a:prstGeom prst="rect">
            <a:avLst/>
          </a:prstGeom>
          <a:noFill/>
        </p:spPr>
        <p:txBody>
          <a:bodyPr wrap="none" rtlCol="0">
            <a:spAutoFit/>
          </a:bodyPr>
          <a:lstStyle/>
          <a:p>
            <a:r>
              <a:rPr lang="en-US" sz="2500" b="1" kern="100" dirty="0"/>
              <a:t>How the System works &amp; Java connection</a:t>
            </a:r>
            <a:endParaRPr lang="en-US" sz="2500" b="1" dirty="0"/>
          </a:p>
        </p:txBody>
      </p:sp>
      <p:sp>
        <p:nvSpPr>
          <p:cNvPr id="14" name="TextBox 13">
            <a:extLst>
              <a:ext uri="{FF2B5EF4-FFF2-40B4-BE49-F238E27FC236}">
                <a16:creationId xmlns:a16="http://schemas.microsoft.com/office/drawing/2014/main" id="{8996C7C8-A78F-96AC-4F51-1FCCBFAFF6B6}"/>
              </a:ext>
            </a:extLst>
          </p:cNvPr>
          <p:cNvSpPr txBox="1"/>
          <p:nvPr/>
        </p:nvSpPr>
        <p:spPr>
          <a:xfrm>
            <a:off x="3456821" y="5008892"/>
            <a:ext cx="4602542" cy="477054"/>
          </a:xfrm>
          <a:prstGeom prst="rect">
            <a:avLst/>
          </a:prstGeom>
          <a:noFill/>
        </p:spPr>
        <p:txBody>
          <a:bodyPr wrap="none" rtlCol="0">
            <a:spAutoFit/>
          </a:bodyPr>
          <a:lstStyle/>
          <a:p>
            <a:r>
              <a:rPr lang="en-US" sz="2500" b="1" dirty="0"/>
              <a:t>Challenges &amp; Future Objective</a:t>
            </a:r>
          </a:p>
        </p:txBody>
      </p:sp>
      <p:sp>
        <p:nvSpPr>
          <p:cNvPr id="15" name="TextBox 14">
            <a:extLst>
              <a:ext uri="{FF2B5EF4-FFF2-40B4-BE49-F238E27FC236}">
                <a16:creationId xmlns:a16="http://schemas.microsoft.com/office/drawing/2014/main" id="{B9A85109-5057-C308-5C55-D764A7F529D1}"/>
              </a:ext>
            </a:extLst>
          </p:cNvPr>
          <p:cNvSpPr txBox="1"/>
          <p:nvPr/>
        </p:nvSpPr>
        <p:spPr>
          <a:xfrm>
            <a:off x="3456821" y="5872283"/>
            <a:ext cx="1832553" cy="477054"/>
          </a:xfrm>
          <a:prstGeom prst="rect">
            <a:avLst/>
          </a:prstGeom>
          <a:noFill/>
        </p:spPr>
        <p:txBody>
          <a:bodyPr wrap="none" rtlCol="0">
            <a:spAutoFit/>
          </a:bodyPr>
          <a:lstStyle/>
          <a:p>
            <a:r>
              <a:rPr lang="en-US" sz="2500" b="1" dirty="0"/>
              <a:t>Conclusion</a:t>
            </a:r>
          </a:p>
        </p:txBody>
      </p:sp>
      <p:sp>
        <p:nvSpPr>
          <p:cNvPr id="17" name="TextBox 16">
            <a:extLst>
              <a:ext uri="{FF2B5EF4-FFF2-40B4-BE49-F238E27FC236}">
                <a16:creationId xmlns:a16="http://schemas.microsoft.com/office/drawing/2014/main" id="{4A5A442F-4ADE-8514-4E3A-7BAA3C621266}"/>
              </a:ext>
            </a:extLst>
          </p:cNvPr>
          <p:cNvSpPr txBox="1"/>
          <p:nvPr/>
        </p:nvSpPr>
        <p:spPr>
          <a:xfrm>
            <a:off x="3521460" y="2529721"/>
            <a:ext cx="264816" cy="477054"/>
          </a:xfrm>
          <a:prstGeom prst="rect">
            <a:avLst/>
          </a:prstGeom>
          <a:noFill/>
        </p:spPr>
        <p:txBody>
          <a:bodyPr wrap="none" rtlCol="0">
            <a:spAutoFit/>
          </a:bodyPr>
          <a:lstStyle/>
          <a:p>
            <a:r>
              <a:rPr lang="en-US" sz="2500" b="1" dirty="0"/>
              <a:t> </a:t>
            </a:r>
          </a:p>
        </p:txBody>
      </p:sp>
      <p:sp>
        <p:nvSpPr>
          <p:cNvPr id="21" name="Freeform: Shape 20">
            <a:extLst>
              <a:ext uri="{FF2B5EF4-FFF2-40B4-BE49-F238E27FC236}">
                <a16:creationId xmlns:a16="http://schemas.microsoft.com/office/drawing/2014/main" id="{3EA4A5E4-4D32-3451-6BC7-7DDD211120A3}"/>
              </a:ext>
            </a:extLst>
          </p:cNvPr>
          <p:cNvSpPr/>
          <p:nvPr/>
        </p:nvSpPr>
        <p:spPr>
          <a:xfrm rot="5400000">
            <a:off x="5874792" y="628577"/>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7B6F01AC-0167-697C-B9DE-A04D0A485689}"/>
              </a:ext>
            </a:extLst>
          </p:cNvPr>
          <p:cNvSpPr/>
          <p:nvPr/>
        </p:nvSpPr>
        <p:spPr>
          <a:xfrm rot="10800000">
            <a:off x="6412422" y="99980"/>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89F029B-3062-AB86-0DF5-7EFB6D1B1361}"/>
              </a:ext>
            </a:extLst>
          </p:cNvPr>
          <p:cNvSpPr/>
          <p:nvPr/>
        </p:nvSpPr>
        <p:spPr>
          <a:xfrm>
            <a:off x="6423598" y="1168534"/>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A5CAB041-B09B-2FED-CD31-E2B39C46ECE2}"/>
              </a:ext>
            </a:extLst>
          </p:cNvPr>
          <p:cNvSpPr/>
          <p:nvPr/>
        </p:nvSpPr>
        <p:spPr>
          <a:xfrm rot="16200000">
            <a:off x="6958273" y="631216"/>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6" name="Freeform: Shape 25">
            <a:extLst>
              <a:ext uri="{FF2B5EF4-FFF2-40B4-BE49-F238E27FC236}">
                <a16:creationId xmlns:a16="http://schemas.microsoft.com/office/drawing/2014/main" id="{78F656AF-565B-2768-A0B2-2032518DC660}"/>
              </a:ext>
            </a:extLst>
          </p:cNvPr>
          <p:cNvSpPr/>
          <p:nvPr/>
        </p:nvSpPr>
        <p:spPr>
          <a:xfrm>
            <a:off x="6421222" y="849297"/>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7" name="Freeform: Shape 26">
            <a:extLst>
              <a:ext uri="{FF2B5EF4-FFF2-40B4-BE49-F238E27FC236}">
                <a16:creationId xmlns:a16="http://schemas.microsoft.com/office/drawing/2014/main" id="{814650D4-0601-213D-C0B0-83925E348D0B}"/>
              </a:ext>
            </a:extLst>
          </p:cNvPr>
          <p:cNvSpPr/>
          <p:nvPr/>
        </p:nvSpPr>
        <p:spPr>
          <a:xfrm rot="10800000">
            <a:off x="6423598" y="433185"/>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18" name="TextBox 17">
            <a:extLst>
              <a:ext uri="{FF2B5EF4-FFF2-40B4-BE49-F238E27FC236}">
                <a16:creationId xmlns:a16="http://schemas.microsoft.com/office/drawing/2014/main" id="{E0252BE9-7EF8-A765-203E-FA02556F648F}"/>
              </a:ext>
            </a:extLst>
          </p:cNvPr>
          <p:cNvSpPr txBox="1"/>
          <p:nvPr/>
        </p:nvSpPr>
        <p:spPr>
          <a:xfrm>
            <a:off x="3446700" y="2483566"/>
            <a:ext cx="5728743" cy="1169551"/>
          </a:xfrm>
          <a:prstGeom prst="rect">
            <a:avLst/>
          </a:prstGeom>
          <a:noFill/>
        </p:spPr>
        <p:txBody>
          <a:bodyPr wrap="square" rtlCol="0">
            <a:spAutoFit/>
          </a:bodyPr>
          <a:lstStyle/>
          <a:p>
            <a:r>
              <a:rPr lang="en-US" sz="3500" b="1" dirty="0"/>
              <a:t>Case Study &amp; ER Diagram</a:t>
            </a:r>
          </a:p>
          <a:p>
            <a:endParaRPr lang="en-US" sz="3500" b="1" dirty="0"/>
          </a:p>
        </p:txBody>
      </p:sp>
    </p:spTree>
    <p:extLst>
      <p:ext uri="{BB962C8B-B14F-4D97-AF65-F5344CB8AC3E}">
        <p14:creationId xmlns:p14="http://schemas.microsoft.com/office/powerpoint/2010/main" val="1732032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0" y="0"/>
            <a:ext cx="12192000" cy="6858000"/>
          </a:xfrm>
          <a:prstGeom prst="rect">
            <a:avLst/>
          </a:prstGeom>
          <a:solidFill>
            <a:schemeClr val="accent6">
              <a:lumMod val="40000"/>
              <a:lumOff val="6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lumMod val="95000"/>
                  <a:lumOff val="5000"/>
                </a:schemeClr>
              </a:solid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rot="5400000">
            <a:off x="-939189" y="3695689"/>
            <a:ext cx="5404526" cy="679618"/>
          </a:xfrm>
          <a:prstGeom prst="roundRect">
            <a:avLst/>
          </a:prstGeom>
          <a:gradFill flip="none" rotWithShape="1">
            <a:gsLst>
              <a:gs pos="0">
                <a:schemeClr val="accent1">
                  <a:lumMod val="10000"/>
                  <a:tint val="66000"/>
                  <a:satMod val="160000"/>
                </a:schemeClr>
              </a:gs>
              <a:gs pos="50000">
                <a:schemeClr val="accent1">
                  <a:lumMod val="10000"/>
                  <a:tint val="44500"/>
                  <a:satMod val="160000"/>
                </a:schemeClr>
              </a:gs>
              <a:gs pos="100000">
                <a:schemeClr val="accent1">
                  <a:lumMod val="10000"/>
                  <a:tint val="23500"/>
                  <a:satMod val="160000"/>
                </a:schemeClr>
              </a:gs>
            </a:gsLst>
            <a:lin ang="13500000" scaled="1"/>
            <a:tileRect/>
          </a:gra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1872002" y="1733828"/>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1882742" y="5883673"/>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1872002" y="4975525"/>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1847466" y="4189786"/>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1872002" y="3355298"/>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1882744" y="2545425"/>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3A566F6-3D42-9783-7F6E-43072F4EC5BA}"/>
              </a:ext>
            </a:extLst>
          </p:cNvPr>
          <p:cNvSpPr txBox="1"/>
          <p:nvPr/>
        </p:nvSpPr>
        <p:spPr>
          <a:xfrm>
            <a:off x="4158021" y="475921"/>
            <a:ext cx="3508310" cy="630942"/>
          </a:xfrm>
          <a:prstGeom prst="rect">
            <a:avLst/>
          </a:prstGeom>
          <a:noFill/>
        </p:spPr>
        <p:txBody>
          <a:bodyPr wrap="square" rtlCol="0">
            <a:spAutoFit/>
          </a:bodyPr>
          <a:lstStyle/>
          <a:p>
            <a:r>
              <a:rPr lang="en-US" sz="3500" u="sng" dirty="0">
                <a:solidFill>
                  <a:schemeClr val="bg1"/>
                </a:solidFill>
                <a:latin typeface="+mj-lt"/>
              </a:rPr>
              <a:t>Outline</a:t>
            </a:r>
          </a:p>
        </p:txBody>
      </p:sp>
      <p:sp>
        <p:nvSpPr>
          <p:cNvPr id="4" name="Arrow: Right 3">
            <a:extLst>
              <a:ext uri="{FF2B5EF4-FFF2-40B4-BE49-F238E27FC236}">
                <a16:creationId xmlns:a16="http://schemas.microsoft.com/office/drawing/2014/main" id="{B1F3513B-0B03-7D7C-76BA-C1C186ED8558}"/>
              </a:ext>
            </a:extLst>
          </p:cNvPr>
          <p:cNvSpPr/>
          <p:nvPr/>
        </p:nvSpPr>
        <p:spPr>
          <a:xfrm>
            <a:off x="2551620" y="1733828"/>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E2745EFA-962D-7B30-B12D-A61A057B04B7}"/>
              </a:ext>
            </a:extLst>
          </p:cNvPr>
          <p:cNvSpPr/>
          <p:nvPr/>
        </p:nvSpPr>
        <p:spPr>
          <a:xfrm>
            <a:off x="2551620" y="58588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446C67A1-F461-AEA6-5228-9058CA842F98}"/>
              </a:ext>
            </a:extLst>
          </p:cNvPr>
          <p:cNvSpPr/>
          <p:nvPr/>
        </p:nvSpPr>
        <p:spPr>
          <a:xfrm>
            <a:off x="2548171" y="49679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FF920094-1A40-3923-E590-3B90F427DF91}"/>
              </a:ext>
            </a:extLst>
          </p:cNvPr>
          <p:cNvSpPr/>
          <p:nvPr/>
        </p:nvSpPr>
        <p:spPr>
          <a:xfrm>
            <a:off x="2534152" y="4213584"/>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148323BA-CA75-74A3-8939-7415D50A4C4A}"/>
              </a:ext>
            </a:extLst>
          </p:cNvPr>
          <p:cNvSpPr/>
          <p:nvPr/>
        </p:nvSpPr>
        <p:spPr>
          <a:xfrm>
            <a:off x="2548171" y="251949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B7FA9CAF-E684-BAF4-7B13-6DEB80387380}"/>
              </a:ext>
            </a:extLst>
          </p:cNvPr>
          <p:cNvSpPr/>
          <p:nvPr/>
        </p:nvSpPr>
        <p:spPr>
          <a:xfrm>
            <a:off x="2551620" y="3396655"/>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CD5F74-2409-E42E-E52A-8CD251BB26C0}"/>
              </a:ext>
            </a:extLst>
          </p:cNvPr>
          <p:cNvSpPr txBox="1"/>
          <p:nvPr/>
        </p:nvSpPr>
        <p:spPr>
          <a:xfrm>
            <a:off x="3446700" y="1762010"/>
            <a:ext cx="7666650" cy="477054"/>
          </a:xfrm>
          <a:prstGeom prst="rect">
            <a:avLst/>
          </a:prstGeom>
          <a:noFill/>
        </p:spPr>
        <p:txBody>
          <a:bodyPr wrap="square" rtlCol="0">
            <a:spAutoFit/>
          </a:bodyPr>
          <a:lstStyle/>
          <a:p>
            <a:r>
              <a:rPr lang="en-US" sz="2500" b="1" dirty="0">
                <a:solidFill>
                  <a:srgbClr val="000000"/>
                </a:solidFill>
              </a:rPr>
              <a:t>Introduction</a:t>
            </a:r>
          </a:p>
        </p:txBody>
      </p:sp>
      <p:sp>
        <p:nvSpPr>
          <p:cNvPr id="12" name="TextBox 11">
            <a:extLst>
              <a:ext uri="{FF2B5EF4-FFF2-40B4-BE49-F238E27FC236}">
                <a16:creationId xmlns:a16="http://schemas.microsoft.com/office/drawing/2014/main" id="{7D12DD0A-B5EA-AD9F-9188-37A17C1660BE}"/>
              </a:ext>
            </a:extLst>
          </p:cNvPr>
          <p:cNvSpPr txBox="1"/>
          <p:nvPr/>
        </p:nvSpPr>
        <p:spPr>
          <a:xfrm>
            <a:off x="3429232" y="3339922"/>
            <a:ext cx="4110421" cy="630942"/>
          </a:xfrm>
          <a:prstGeom prst="rect">
            <a:avLst/>
          </a:prstGeom>
          <a:noFill/>
        </p:spPr>
        <p:txBody>
          <a:bodyPr wrap="none" rtlCol="0">
            <a:spAutoFit/>
          </a:bodyPr>
          <a:lstStyle/>
          <a:p>
            <a:r>
              <a:rPr lang="en-US" sz="3500" b="1" dirty="0"/>
              <a:t>Database Structure</a:t>
            </a:r>
          </a:p>
        </p:txBody>
      </p:sp>
      <p:sp>
        <p:nvSpPr>
          <p:cNvPr id="13" name="TextBox 12">
            <a:extLst>
              <a:ext uri="{FF2B5EF4-FFF2-40B4-BE49-F238E27FC236}">
                <a16:creationId xmlns:a16="http://schemas.microsoft.com/office/drawing/2014/main" id="{5CF7BCB5-D23A-5B2B-F968-84FD8605367F}"/>
              </a:ext>
            </a:extLst>
          </p:cNvPr>
          <p:cNvSpPr txBox="1"/>
          <p:nvPr/>
        </p:nvSpPr>
        <p:spPr>
          <a:xfrm>
            <a:off x="3429232" y="4205023"/>
            <a:ext cx="6211957" cy="477054"/>
          </a:xfrm>
          <a:prstGeom prst="rect">
            <a:avLst/>
          </a:prstGeom>
          <a:noFill/>
        </p:spPr>
        <p:txBody>
          <a:bodyPr wrap="none" rtlCol="0">
            <a:spAutoFit/>
          </a:bodyPr>
          <a:lstStyle/>
          <a:p>
            <a:r>
              <a:rPr lang="en-US" sz="2500" b="1" kern="100" dirty="0"/>
              <a:t>How the System works &amp; Java connection</a:t>
            </a:r>
            <a:endParaRPr lang="en-US" sz="2500" b="1" dirty="0"/>
          </a:p>
        </p:txBody>
      </p:sp>
      <p:sp>
        <p:nvSpPr>
          <p:cNvPr id="14" name="TextBox 13">
            <a:extLst>
              <a:ext uri="{FF2B5EF4-FFF2-40B4-BE49-F238E27FC236}">
                <a16:creationId xmlns:a16="http://schemas.microsoft.com/office/drawing/2014/main" id="{8996C7C8-A78F-96AC-4F51-1FCCBFAFF6B6}"/>
              </a:ext>
            </a:extLst>
          </p:cNvPr>
          <p:cNvSpPr txBox="1"/>
          <p:nvPr/>
        </p:nvSpPr>
        <p:spPr>
          <a:xfrm>
            <a:off x="3456821" y="5008892"/>
            <a:ext cx="4602542" cy="477054"/>
          </a:xfrm>
          <a:prstGeom prst="rect">
            <a:avLst/>
          </a:prstGeom>
          <a:noFill/>
        </p:spPr>
        <p:txBody>
          <a:bodyPr wrap="none" rtlCol="0">
            <a:spAutoFit/>
          </a:bodyPr>
          <a:lstStyle/>
          <a:p>
            <a:r>
              <a:rPr lang="en-US" sz="2500" b="1" dirty="0"/>
              <a:t>Challenges &amp; Future Objective</a:t>
            </a:r>
          </a:p>
        </p:txBody>
      </p:sp>
      <p:sp>
        <p:nvSpPr>
          <p:cNvPr id="15" name="TextBox 14">
            <a:extLst>
              <a:ext uri="{FF2B5EF4-FFF2-40B4-BE49-F238E27FC236}">
                <a16:creationId xmlns:a16="http://schemas.microsoft.com/office/drawing/2014/main" id="{B9A85109-5057-C308-5C55-D764A7F529D1}"/>
              </a:ext>
            </a:extLst>
          </p:cNvPr>
          <p:cNvSpPr txBox="1"/>
          <p:nvPr/>
        </p:nvSpPr>
        <p:spPr>
          <a:xfrm>
            <a:off x="3456821" y="5872283"/>
            <a:ext cx="1832553" cy="477054"/>
          </a:xfrm>
          <a:prstGeom prst="rect">
            <a:avLst/>
          </a:prstGeom>
          <a:noFill/>
        </p:spPr>
        <p:txBody>
          <a:bodyPr wrap="none" rtlCol="0">
            <a:spAutoFit/>
          </a:bodyPr>
          <a:lstStyle/>
          <a:p>
            <a:r>
              <a:rPr lang="en-US" sz="2500" b="1" dirty="0"/>
              <a:t>Conclusion</a:t>
            </a:r>
          </a:p>
        </p:txBody>
      </p:sp>
      <p:sp>
        <p:nvSpPr>
          <p:cNvPr id="17" name="TextBox 16">
            <a:extLst>
              <a:ext uri="{FF2B5EF4-FFF2-40B4-BE49-F238E27FC236}">
                <a16:creationId xmlns:a16="http://schemas.microsoft.com/office/drawing/2014/main" id="{4A5A442F-4ADE-8514-4E3A-7BAA3C621266}"/>
              </a:ext>
            </a:extLst>
          </p:cNvPr>
          <p:cNvSpPr txBox="1"/>
          <p:nvPr/>
        </p:nvSpPr>
        <p:spPr>
          <a:xfrm>
            <a:off x="3521460" y="2529721"/>
            <a:ext cx="264816" cy="477054"/>
          </a:xfrm>
          <a:prstGeom prst="rect">
            <a:avLst/>
          </a:prstGeom>
          <a:noFill/>
        </p:spPr>
        <p:txBody>
          <a:bodyPr wrap="none" rtlCol="0">
            <a:spAutoFit/>
          </a:bodyPr>
          <a:lstStyle/>
          <a:p>
            <a:r>
              <a:rPr lang="en-US" sz="2500" b="1" dirty="0"/>
              <a:t> </a:t>
            </a:r>
          </a:p>
        </p:txBody>
      </p:sp>
      <p:sp>
        <p:nvSpPr>
          <p:cNvPr id="21" name="Freeform: Shape 20">
            <a:extLst>
              <a:ext uri="{FF2B5EF4-FFF2-40B4-BE49-F238E27FC236}">
                <a16:creationId xmlns:a16="http://schemas.microsoft.com/office/drawing/2014/main" id="{3EA4A5E4-4D32-3451-6BC7-7DDD211120A3}"/>
              </a:ext>
            </a:extLst>
          </p:cNvPr>
          <p:cNvSpPr/>
          <p:nvPr/>
        </p:nvSpPr>
        <p:spPr>
          <a:xfrm rot="5400000">
            <a:off x="5874792" y="628577"/>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7B6F01AC-0167-697C-B9DE-A04D0A485689}"/>
              </a:ext>
            </a:extLst>
          </p:cNvPr>
          <p:cNvSpPr/>
          <p:nvPr/>
        </p:nvSpPr>
        <p:spPr>
          <a:xfrm rot="10800000">
            <a:off x="6412422" y="99980"/>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89F029B-3062-AB86-0DF5-7EFB6D1B1361}"/>
              </a:ext>
            </a:extLst>
          </p:cNvPr>
          <p:cNvSpPr/>
          <p:nvPr/>
        </p:nvSpPr>
        <p:spPr>
          <a:xfrm>
            <a:off x="6423598" y="1168534"/>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A5CAB041-B09B-2FED-CD31-E2B39C46ECE2}"/>
              </a:ext>
            </a:extLst>
          </p:cNvPr>
          <p:cNvSpPr/>
          <p:nvPr/>
        </p:nvSpPr>
        <p:spPr>
          <a:xfrm rot="16200000">
            <a:off x="6958273" y="631216"/>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6" name="Freeform: Shape 25">
            <a:extLst>
              <a:ext uri="{FF2B5EF4-FFF2-40B4-BE49-F238E27FC236}">
                <a16:creationId xmlns:a16="http://schemas.microsoft.com/office/drawing/2014/main" id="{78F656AF-565B-2768-A0B2-2032518DC660}"/>
              </a:ext>
            </a:extLst>
          </p:cNvPr>
          <p:cNvSpPr/>
          <p:nvPr/>
        </p:nvSpPr>
        <p:spPr>
          <a:xfrm>
            <a:off x="6421222" y="849297"/>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7" name="Freeform: Shape 26">
            <a:extLst>
              <a:ext uri="{FF2B5EF4-FFF2-40B4-BE49-F238E27FC236}">
                <a16:creationId xmlns:a16="http://schemas.microsoft.com/office/drawing/2014/main" id="{814650D4-0601-213D-C0B0-83925E348D0B}"/>
              </a:ext>
            </a:extLst>
          </p:cNvPr>
          <p:cNvSpPr/>
          <p:nvPr/>
        </p:nvSpPr>
        <p:spPr>
          <a:xfrm rot="10800000">
            <a:off x="6423598" y="433185"/>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18" name="TextBox 17">
            <a:extLst>
              <a:ext uri="{FF2B5EF4-FFF2-40B4-BE49-F238E27FC236}">
                <a16:creationId xmlns:a16="http://schemas.microsoft.com/office/drawing/2014/main" id="{E0252BE9-7EF8-A765-203E-FA02556F648F}"/>
              </a:ext>
            </a:extLst>
          </p:cNvPr>
          <p:cNvSpPr txBox="1"/>
          <p:nvPr/>
        </p:nvSpPr>
        <p:spPr>
          <a:xfrm>
            <a:off x="3442193" y="2545425"/>
            <a:ext cx="5728743" cy="861774"/>
          </a:xfrm>
          <a:prstGeom prst="rect">
            <a:avLst/>
          </a:prstGeom>
          <a:noFill/>
        </p:spPr>
        <p:txBody>
          <a:bodyPr wrap="square" rtlCol="0">
            <a:spAutoFit/>
          </a:bodyPr>
          <a:lstStyle/>
          <a:p>
            <a:r>
              <a:rPr lang="en-US" sz="2500" b="1" dirty="0"/>
              <a:t>Case Study &amp; ER Diagram</a:t>
            </a:r>
          </a:p>
          <a:p>
            <a:endParaRPr lang="en-US" sz="2500" b="1" dirty="0"/>
          </a:p>
        </p:txBody>
      </p:sp>
    </p:spTree>
    <p:extLst>
      <p:ext uri="{BB962C8B-B14F-4D97-AF65-F5344CB8AC3E}">
        <p14:creationId xmlns:p14="http://schemas.microsoft.com/office/powerpoint/2010/main" val="197462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0" y="0"/>
            <a:ext cx="12192000" cy="6858000"/>
          </a:xfrm>
          <a:prstGeom prst="rect">
            <a:avLst/>
          </a:prstGeom>
          <a:solidFill>
            <a:schemeClr val="accent6">
              <a:lumMod val="40000"/>
              <a:lumOff val="6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lumMod val="95000"/>
                  <a:lumOff val="5000"/>
                </a:schemeClr>
              </a:solid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rot="5400000">
            <a:off x="-939189" y="3695689"/>
            <a:ext cx="5404526" cy="679618"/>
          </a:xfrm>
          <a:prstGeom prst="roundRect">
            <a:avLst/>
          </a:prstGeom>
          <a:gradFill flip="none" rotWithShape="1">
            <a:gsLst>
              <a:gs pos="0">
                <a:schemeClr val="accent1">
                  <a:lumMod val="10000"/>
                  <a:tint val="66000"/>
                  <a:satMod val="160000"/>
                </a:schemeClr>
              </a:gs>
              <a:gs pos="50000">
                <a:schemeClr val="accent1">
                  <a:lumMod val="10000"/>
                  <a:tint val="44500"/>
                  <a:satMod val="160000"/>
                </a:schemeClr>
              </a:gs>
              <a:gs pos="100000">
                <a:schemeClr val="accent1">
                  <a:lumMod val="10000"/>
                  <a:tint val="23500"/>
                  <a:satMod val="160000"/>
                </a:schemeClr>
              </a:gs>
            </a:gsLst>
            <a:lin ang="13500000" scaled="1"/>
            <a:tileRect/>
          </a:gra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1872002" y="1733828"/>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1882742" y="5883673"/>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1872002" y="4975525"/>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1847466" y="4189786"/>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1872002" y="3355298"/>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1882744" y="2545425"/>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3A566F6-3D42-9783-7F6E-43072F4EC5BA}"/>
              </a:ext>
            </a:extLst>
          </p:cNvPr>
          <p:cNvSpPr txBox="1"/>
          <p:nvPr/>
        </p:nvSpPr>
        <p:spPr>
          <a:xfrm>
            <a:off x="4158021" y="475921"/>
            <a:ext cx="3508310" cy="630942"/>
          </a:xfrm>
          <a:prstGeom prst="rect">
            <a:avLst/>
          </a:prstGeom>
          <a:noFill/>
        </p:spPr>
        <p:txBody>
          <a:bodyPr wrap="square" rtlCol="0">
            <a:spAutoFit/>
          </a:bodyPr>
          <a:lstStyle/>
          <a:p>
            <a:r>
              <a:rPr lang="en-US" sz="3500" u="sng" dirty="0">
                <a:solidFill>
                  <a:schemeClr val="bg1"/>
                </a:solidFill>
                <a:latin typeface="+mj-lt"/>
              </a:rPr>
              <a:t>Outline</a:t>
            </a:r>
          </a:p>
        </p:txBody>
      </p:sp>
      <p:sp>
        <p:nvSpPr>
          <p:cNvPr id="4" name="Arrow: Right 3">
            <a:extLst>
              <a:ext uri="{FF2B5EF4-FFF2-40B4-BE49-F238E27FC236}">
                <a16:creationId xmlns:a16="http://schemas.microsoft.com/office/drawing/2014/main" id="{B1F3513B-0B03-7D7C-76BA-C1C186ED8558}"/>
              </a:ext>
            </a:extLst>
          </p:cNvPr>
          <p:cNvSpPr/>
          <p:nvPr/>
        </p:nvSpPr>
        <p:spPr>
          <a:xfrm>
            <a:off x="2551620" y="1733828"/>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E2745EFA-962D-7B30-B12D-A61A057B04B7}"/>
              </a:ext>
            </a:extLst>
          </p:cNvPr>
          <p:cNvSpPr/>
          <p:nvPr/>
        </p:nvSpPr>
        <p:spPr>
          <a:xfrm>
            <a:off x="2551620" y="58588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446C67A1-F461-AEA6-5228-9058CA842F98}"/>
              </a:ext>
            </a:extLst>
          </p:cNvPr>
          <p:cNvSpPr/>
          <p:nvPr/>
        </p:nvSpPr>
        <p:spPr>
          <a:xfrm>
            <a:off x="2548171" y="49679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FF920094-1A40-3923-E590-3B90F427DF91}"/>
              </a:ext>
            </a:extLst>
          </p:cNvPr>
          <p:cNvSpPr/>
          <p:nvPr/>
        </p:nvSpPr>
        <p:spPr>
          <a:xfrm>
            <a:off x="2534152" y="4213584"/>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148323BA-CA75-74A3-8939-7415D50A4C4A}"/>
              </a:ext>
            </a:extLst>
          </p:cNvPr>
          <p:cNvSpPr/>
          <p:nvPr/>
        </p:nvSpPr>
        <p:spPr>
          <a:xfrm>
            <a:off x="2548171" y="251949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B7FA9CAF-E684-BAF4-7B13-6DEB80387380}"/>
              </a:ext>
            </a:extLst>
          </p:cNvPr>
          <p:cNvSpPr/>
          <p:nvPr/>
        </p:nvSpPr>
        <p:spPr>
          <a:xfrm>
            <a:off x="2551620" y="3396655"/>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CD5F74-2409-E42E-E52A-8CD251BB26C0}"/>
              </a:ext>
            </a:extLst>
          </p:cNvPr>
          <p:cNvSpPr txBox="1"/>
          <p:nvPr/>
        </p:nvSpPr>
        <p:spPr>
          <a:xfrm>
            <a:off x="3446700" y="1762010"/>
            <a:ext cx="7666650" cy="477054"/>
          </a:xfrm>
          <a:prstGeom prst="rect">
            <a:avLst/>
          </a:prstGeom>
          <a:noFill/>
        </p:spPr>
        <p:txBody>
          <a:bodyPr wrap="square" rtlCol="0">
            <a:spAutoFit/>
          </a:bodyPr>
          <a:lstStyle/>
          <a:p>
            <a:r>
              <a:rPr lang="en-US" sz="2500" b="1" dirty="0">
                <a:solidFill>
                  <a:srgbClr val="000000"/>
                </a:solidFill>
              </a:rPr>
              <a:t>Introduction</a:t>
            </a:r>
          </a:p>
        </p:txBody>
      </p:sp>
      <p:sp>
        <p:nvSpPr>
          <p:cNvPr id="12" name="TextBox 11">
            <a:extLst>
              <a:ext uri="{FF2B5EF4-FFF2-40B4-BE49-F238E27FC236}">
                <a16:creationId xmlns:a16="http://schemas.microsoft.com/office/drawing/2014/main" id="{7D12DD0A-B5EA-AD9F-9188-37A17C1660BE}"/>
              </a:ext>
            </a:extLst>
          </p:cNvPr>
          <p:cNvSpPr txBox="1"/>
          <p:nvPr/>
        </p:nvSpPr>
        <p:spPr>
          <a:xfrm>
            <a:off x="3454560" y="3370958"/>
            <a:ext cx="2912977" cy="477054"/>
          </a:xfrm>
          <a:prstGeom prst="rect">
            <a:avLst/>
          </a:prstGeom>
          <a:noFill/>
        </p:spPr>
        <p:txBody>
          <a:bodyPr wrap="none" rtlCol="0">
            <a:spAutoFit/>
          </a:bodyPr>
          <a:lstStyle/>
          <a:p>
            <a:r>
              <a:rPr lang="en-US" sz="2500" b="1" dirty="0"/>
              <a:t>Database Structure</a:t>
            </a:r>
          </a:p>
        </p:txBody>
      </p:sp>
      <p:sp>
        <p:nvSpPr>
          <p:cNvPr id="13" name="TextBox 12">
            <a:extLst>
              <a:ext uri="{FF2B5EF4-FFF2-40B4-BE49-F238E27FC236}">
                <a16:creationId xmlns:a16="http://schemas.microsoft.com/office/drawing/2014/main" id="{5CF7BCB5-D23A-5B2B-F968-84FD8605367F}"/>
              </a:ext>
            </a:extLst>
          </p:cNvPr>
          <p:cNvSpPr txBox="1"/>
          <p:nvPr/>
        </p:nvSpPr>
        <p:spPr>
          <a:xfrm>
            <a:off x="3415489" y="4198336"/>
            <a:ext cx="8731878" cy="630942"/>
          </a:xfrm>
          <a:prstGeom prst="rect">
            <a:avLst/>
          </a:prstGeom>
          <a:noFill/>
        </p:spPr>
        <p:txBody>
          <a:bodyPr wrap="none" rtlCol="0">
            <a:spAutoFit/>
          </a:bodyPr>
          <a:lstStyle/>
          <a:p>
            <a:r>
              <a:rPr lang="en-US" sz="3500" b="1" kern="100" dirty="0"/>
              <a:t>How the System works &amp; Java Connection</a:t>
            </a:r>
            <a:endParaRPr lang="en-US" sz="3500" b="1" dirty="0"/>
          </a:p>
        </p:txBody>
      </p:sp>
      <p:sp>
        <p:nvSpPr>
          <p:cNvPr id="14" name="TextBox 13">
            <a:extLst>
              <a:ext uri="{FF2B5EF4-FFF2-40B4-BE49-F238E27FC236}">
                <a16:creationId xmlns:a16="http://schemas.microsoft.com/office/drawing/2014/main" id="{8996C7C8-A78F-96AC-4F51-1FCCBFAFF6B6}"/>
              </a:ext>
            </a:extLst>
          </p:cNvPr>
          <p:cNvSpPr txBox="1"/>
          <p:nvPr/>
        </p:nvSpPr>
        <p:spPr>
          <a:xfrm>
            <a:off x="3456821" y="5008892"/>
            <a:ext cx="4602542" cy="477054"/>
          </a:xfrm>
          <a:prstGeom prst="rect">
            <a:avLst/>
          </a:prstGeom>
          <a:noFill/>
        </p:spPr>
        <p:txBody>
          <a:bodyPr wrap="none" rtlCol="0">
            <a:spAutoFit/>
          </a:bodyPr>
          <a:lstStyle/>
          <a:p>
            <a:r>
              <a:rPr lang="en-US" sz="2500" b="1" dirty="0"/>
              <a:t>Challenges &amp; Future Objective</a:t>
            </a:r>
          </a:p>
        </p:txBody>
      </p:sp>
      <p:sp>
        <p:nvSpPr>
          <p:cNvPr id="15" name="TextBox 14">
            <a:extLst>
              <a:ext uri="{FF2B5EF4-FFF2-40B4-BE49-F238E27FC236}">
                <a16:creationId xmlns:a16="http://schemas.microsoft.com/office/drawing/2014/main" id="{B9A85109-5057-C308-5C55-D764A7F529D1}"/>
              </a:ext>
            </a:extLst>
          </p:cNvPr>
          <p:cNvSpPr txBox="1"/>
          <p:nvPr/>
        </p:nvSpPr>
        <p:spPr>
          <a:xfrm>
            <a:off x="3456821" y="5872283"/>
            <a:ext cx="1832553" cy="477054"/>
          </a:xfrm>
          <a:prstGeom prst="rect">
            <a:avLst/>
          </a:prstGeom>
          <a:noFill/>
        </p:spPr>
        <p:txBody>
          <a:bodyPr wrap="none" rtlCol="0">
            <a:spAutoFit/>
          </a:bodyPr>
          <a:lstStyle/>
          <a:p>
            <a:r>
              <a:rPr lang="en-US" sz="2500" b="1" dirty="0"/>
              <a:t>Conclusion</a:t>
            </a:r>
          </a:p>
        </p:txBody>
      </p:sp>
      <p:sp>
        <p:nvSpPr>
          <p:cNvPr id="17" name="TextBox 16">
            <a:extLst>
              <a:ext uri="{FF2B5EF4-FFF2-40B4-BE49-F238E27FC236}">
                <a16:creationId xmlns:a16="http://schemas.microsoft.com/office/drawing/2014/main" id="{4A5A442F-4ADE-8514-4E3A-7BAA3C621266}"/>
              </a:ext>
            </a:extLst>
          </p:cNvPr>
          <p:cNvSpPr txBox="1"/>
          <p:nvPr/>
        </p:nvSpPr>
        <p:spPr>
          <a:xfrm>
            <a:off x="3521460" y="2529721"/>
            <a:ext cx="264816" cy="477054"/>
          </a:xfrm>
          <a:prstGeom prst="rect">
            <a:avLst/>
          </a:prstGeom>
          <a:noFill/>
        </p:spPr>
        <p:txBody>
          <a:bodyPr wrap="none" rtlCol="0">
            <a:spAutoFit/>
          </a:bodyPr>
          <a:lstStyle/>
          <a:p>
            <a:r>
              <a:rPr lang="en-US" sz="2500" b="1" dirty="0"/>
              <a:t> </a:t>
            </a:r>
          </a:p>
        </p:txBody>
      </p:sp>
      <p:sp>
        <p:nvSpPr>
          <p:cNvPr id="21" name="Freeform: Shape 20">
            <a:extLst>
              <a:ext uri="{FF2B5EF4-FFF2-40B4-BE49-F238E27FC236}">
                <a16:creationId xmlns:a16="http://schemas.microsoft.com/office/drawing/2014/main" id="{3EA4A5E4-4D32-3451-6BC7-7DDD211120A3}"/>
              </a:ext>
            </a:extLst>
          </p:cNvPr>
          <p:cNvSpPr/>
          <p:nvPr/>
        </p:nvSpPr>
        <p:spPr>
          <a:xfrm rot="5400000">
            <a:off x="5874792" y="628577"/>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7B6F01AC-0167-697C-B9DE-A04D0A485689}"/>
              </a:ext>
            </a:extLst>
          </p:cNvPr>
          <p:cNvSpPr/>
          <p:nvPr/>
        </p:nvSpPr>
        <p:spPr>
          <a:xfrm rot="10800000">
            <a:off x="6412422" y="99980"/>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89F029B-3062-AB86-0DF5-7EFB6D1B1361}"/>
              </a:ext>
            </a:extLst>
          </p:cNvPr>
          <p:cNvSpPr/>
          <p:nvPr/>
        </p:nvSpPr>
        <p:spPr>
          <a:xfrm>
            <a:off x="6423598" y="1168534"/>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A5CAB041-B09B-2FED-CD31-E2B39C46ECE2}"/>
              </a:ext>
            </a:extLst>
          </p:cNvPr>
          <p:cNvSpPr/>
          <p:nvPr/>
        </p:nvSpPr>
        <p:spPr>
          <a:xfrm rot="16200000">
            <a:off x="6958273" y="631216"/>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6" name="Freeform: Shape 25">
            <a:extLst>
              <a:ext uri="{FF2B5EF4-FFF2-40B4-BE49-F238E27FC236}">
                <a16:creationId xmlns:a16="http://schemas.microsoft.com/office/drawing/2014/main" id="{78F656AF-565B-2768-A0B2-2032518DC660}"/>
              </a:ext>
            </a:extLst>
          </p:cNvPr>
          <p:cNvSpPr/>
          <p:nvPr/>
        </p:nvSpPr>
        <p:spPr>
          <a:xfrm>
            <a:off x="6421222" y="849297"/>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7" name="Freeform: Shape 26">
            <a:extLst>
              <a:ext uri="{FF2B5EF4-FFF2-40B4-BE49-F238E27FC236}">
                <a16:creationId xmlns:a16="http://schemas.microsoft.com/office/drawing/2014/main" id="{814650D4-0601-213D-C0B0-83925E348D0B}"/>
              </a:ext>
            </a:extLst>
          </p:cNvPr>
          <p:cNvSpPr/>
          <p:nvPr/>
        </p:nvSpPr>
        <p:spPr>
          <a:xfrm rot="10800000">
            <a:off x="6423598" y="433185"/>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18" name="TextBox 17">
            <a:extLst>
              <a:ext uri="{FF2B5EF4-FFF2-40B4-BE49-F238E27FC236}">
                <a16:creationId xmlns:a16="http://schemas.microsoft.com/office/drawing/2014/main" id="{E0252BE9-7EF8-A765-203E-FA02556F648F}"/>
              </a:ext>
            </a:extLst>
          </p:cNvPr>
          <p:cNvSpPr txBox="1"/>
          <p:nvPr/>
        </p:nvSpPr>
        <p:spPr>
          <a:xfrm>
            <a:off x="3442193" y="2545425"/>
            <a:ext cx="5728743" cy="861774"/>
          </a:xfrm>
          <a:prstGeom prst="rect">
            <a:avLst/>
          </a:prstGeom>
          <a:noFill/>
        </p:spPr>
        <p:txBody>
          <a:bodyPr wrap="square" rtlCol="0">
            <a:spAutoFit/>
          </a:bodyPr>
          <a:lstStyle/>
          <a:p>
            <a:r>
              <a:rPr lang="en-US" sz="2500" b="1" dirty="0"/>
              <a:t>Case Study &amp; ER Diagram</a:t>
            </a:r>
          </a:p>
          <a:p>
            <a:endParaRPr lang="en-US" sz="2500" b="1" dirty="0"/>
          </a:p>
        </p:txBody>
      </p:sp>
    </p:spTree>
    <p:extLst>
      <p:ext uri="{BB962C8B-B14F-4D97-AF65-F5344CB8AC3E}">
        <p14:creationId xmlns:p14="http://schemas.microsoft.com/office/powerpoint/2010/main" val="2888906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0" y="0"/>
            <a:ext cx="12192000" cy="6858000"/>
          </a:xfrm>
          <a:prstGeom prst="rect">
            <a:avLst/>
          </a:prstGeom>
          <a:solidFill>
            <a:schemeClr val="accent6">
              <a:lumMod val="40000"/>
              <a:lumOff val="6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lumMod val="95000"/>
                  <a:lumOff val="5000"/>
                </a:schemeClr>
              </a:solid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rot="5400000">
            <a:off x="-939189" y="3695689"/>
            <a:ext cx="5404526" cy="679618"/>
          </a:xfrm>
          <a:prstGeom prst="roundRect">
            <a:avLst/>
          </a:prstGeom>
          <a:gradFill flip="none" rotWithShape="1">
            <a:gsLst>
              <a:gs pos="0">
                <a:schemeClr val="accent1">
                  <a:lumMod val="10000"/>
                  <a:tint val="66000"/>
                  <a:satMod val="160000"/>
                </a:schemeClr>
              </a:gs>
              <a:gs pos="50000">
                <a:schemeClr val="accent1">
                  <a:lumMod val="10000"/>
                  <a:tint val="44500"/>
                  <a:satMod val="160000"/>
                </a:schemeClr>
              </a:gs>
              <a:gs pos="100000">
                <a:schemeClr val="accent1">
                  <a:lumMod val="10000"/>
                  <a:tint val="23500"/>
                  <a:satMod val="160000"/>
                </a:schemeClr>
              </a:gs>
            </a:gsLst>
            <a:lin ang="13500000" scaled="1"/>
            <a:tileRect/>
          </a:gra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1872002" y="1733828"/>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1882742" y="5883673"/>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1872002" y="4975525"/>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1847466" y="4189786"/>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1872002" y="3355298"/>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1882744" y="2545425"/>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3A566F6-3D42-9783-7F6E-43072F4EC5BA}"/>
              </a:ext>
            </a:extLst>
          </p:cNvPr>
          <p:cNvSpPr txBox="1"/>
          <p:nvPr/>
        </p:nvSpPr>
        <p:spPr>
          <a:xfrm>
            <a:off x="4158021" y="475921"/>
            <a:ext cx="3508310" cy="630942"/>
          </a:xfrm>
          <a:prstGeom prst="rect">
            <a:avLst/>
          </a:prstGeom>
          <a:noFill/>
        </p:spPr>
        <p:txBody>
          <a:bodyPr wrap="square" rtlCol="0">
            <a:spAutoFit/>
          </a:bodyPr>
          <a:lstStyle/>
          <a:p>
            <a:r>
              <a:rPr lang="en-US" sz="3500" u="sng" dirty="0">
                <a:solidFill>
                  <a:schemeClr val="bg1"/>
                </a:solidFill>
                <a:latin typeface="+mj-lt"/>
              </a:rPr>
              <a:t>Outline</a:t>
            </a:r>
          </a:p>
        </p:txBody>
      </p:sp>
      <p:sp>
        <p:nvSpPr>
          <p:cNvPr id="4" name="Arrow: Right 3">
            <a:extLst>
              <a:ext uri="{FF2B5EF4-FFF2-40B4-BE49-F238E27FC236}">
                <a16:creationId xmlns:a16="http://schemas.microsoft.com/office/drawing/2014/main" id="{B1F3513B-0B03-7D7C-76BA-C1C186ED8558}"/>
              </a:ext>
            </a:extLst>
          </p:cNvPr>
          <p:cNvSpPr/>
          <p:nvPr/>
        </p:nvSpPr>
        <p:spPr>
          <a:xfrm>
            <a:off x="2551620" y="1733828"/>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E2745EFA-962D-7B30-B12D-A61A057B04B7}"/>
              </a:ext>
            </a:extLst>
          </p:cNvPr>
          <p:cNvSpPr/>
          <p:nvPr/>
        </p:nvSpPr>
        <p:spPr>
          <a:xfrm>
            <a:off x="2551620" y="58588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446C67A1-F461-AEA6-5228-9058CA842F98}"/>
              </a:ext>
            </a:extLst>
          </p:cNvPr>
          <p:cNvSpPr/>
          <p:nvPr/>
        </p:nvSpPr>
        <p:spPr>
          <a:xfrm>
            <a:off x="2548171" y="49679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FF920094-1A40-3923-E590-3B90F427DF91}"/>
              </a:ext>
            </a:extLst>
          </p:cNvPr>
          <p:cNvSpPr/>
          <p:nvPr/>
        </p:nvSpPr>
        <p:spPr>
          <a:xfrm>
            <a:off x="2534152" y="4213584"/>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148323BA-CA75-74A3-8939-7415D50A4C4A}"/>
              </a:ext>
            </a:extLst>
          </p:cNvPr>
          <p:cNvSpPr/>
          <p:nvPr/>
        </p:nvSpPr>
        <p:spPr>
          <a:xfrm>
            <a:off x="2548171" y="251949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B7FA9CAF-E684-BAF4-7B13-6DEB80387380}"/>
              </a:ext>
            </a:extLst>
          </p:cNvPr>
          <p:cNvSpPr/>
          <p:nvPr/>
        </p:nvSpPr>
        <p:spPr>
          <a:xfrm>
            <a:off x="2551620" y="3396655"/>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CD5F74-2409-E42E-E52A-8CD251BB26C0}"/>
              </a:ext>
            </a:extLst>
          </p:cNvPr>
          <p:cNvSpPr txBox="1"/>
          <p:nvPr/>
        </p:nvSpPr>
        <p:spPr>
          <a:xfrm>
            <a:off x="3446700" y="1762010"/>
            <a:ext cx="7666650" cy="477054"/>
          </a:xfrm>
          <a:prstGeom prst="rect">
            <a:avLst/>
          </a:prstGeom>
          <a:noFill/>
        </p:spPr>
        <p:txBody>
          <a:bodyPr wrap="square" rtlCol="0">
            <a:spAutoFit/>
          </a:bodyPr>
          <a:lstStyle/>
          <a:p>
            <a:r>
              <a:rPr lang="en-US" sz="2500" b="1" dirty="0">
                <a:solidFill>
                  <a:srgbClr val="000000"/>
                </a:solidFill>
              </a:rPr>
              <a:t>Introduction</a:t>
            </a:r>
          </a:p>
        </p:txBody>
      </p:sp>
      <p:sp>
        <p:nvSpPr>
          <p:cNvPr id="12" name="TextBox 11">
            <a:extLst>
              <a:ext uri="{FF2B5EF4-FFF2-40B4-BE49-F238E27FC236}">
                <a16:creationId xmlns:a16="http://schemas.microsoft.com/office/drawing/2014/main" id="{7D12DD0A-B5EA-AD9F-9188-37A17C1660BE}"/>
              </a:ext>
            </a:extLst>
          </p:cNvPr>
          <p:cNvSpPr txBox="1"/>
          <p:nvPr/>
        </p:nvSpPr>
        <p:spPr>
          <a:xfrm>
            <a:off x="3454560" y="3370958"/>
            <a:ext cx="2912977" cy="477054"/>
          </a:xfrm>
          <a:prstGeom prst="rect">
            <a:avLst/>
          </a:prstGeom>
          <a:noFill/>
        </p:spPr>
        <p:txBody>
          <a:bodyPr wrap="none" rtlCol="0">
            <a:spAutoFit/>
          </a:bodyPr>
          <a:lstStyle/>
          <a:p>
            <a:r>
              <a:rPr lang="en-US" sz="2500" b="1" dirty="0"/>
              <a:t>Database Structure</a:t>
            </a:r>
          </a:p>
        </p:txBody>
      </p:sp>
      <p:sp>
        <p:nvSpPr>
          <p:cNvPr id="13" name="TextBox 12">
            <a:extLst>
              <a:ext uri="{FF2B5EF4-FFF2-40B4-BE49-F238E27FC236}">
                <a16:creationId xmlns:a16="http://schemas.microsoft.com/office/drawing/2014/main" id="{5CF7BCB5-D23A-5B2B-F968-84FD8605367F}"/>
              </a:ext>
            </a:extLst>
          </p:cNvPr>
          <p:cNvSpPr txBox="1"/>
          <p:nvPr/>
        </p:nvSpPr>
        <p:spPr>
          <a:xfrm>
            <a:off x="3429232" y="4205023"/>
            <a:ext cx="6211957" cy="477054"/>
          </a:xfrm>
          <a:prstGeom prst="rect">
            <a:avLst/>
          </a:prstGeom>
          <a:noFill/>
        </p:spPr>
        <p:txBody>
          <a:bodyPr wrap="none" rtlCol="0">
            <a:spAutoFit/>
          </a:bodyPr>
          <a:lstStyle/>
          <a:p>
            <a:r>
              <a:rPr lang="en-US" sz="2500" b="1" kern="100" dirty="0"/>
              <a:t>How the System works &amp; Java connection</a:t>
            </a:r>
            <a:endParaRPr lang="en-US" sz="2500" b="1" dirty="0"/>
          </a:p>
        </p:txBody>
      </p:sp>
      <p:sp>
        <p:nvSpPr>
          <p:cNvPr id="14" name="TextBox 13">
            <a:extLst>
              <a:ext uri="{FF2B5EF4-FFF2-40B4-BE49-F238E27FC236}">
                <a16:creationId xmlns:a16="http://schemas.microsoft.com/office/drawing/2014/main" id="{8996C7C8-A78F-96AC-4F51-1FCCBFAFF6B6}"/>
              </a:ext>
            </a:extLst>
          </p:cNvPr>
          <p:cNvSpPr txBox="1"/>
          <p:nvPr/>
        </p:nvSpPr>
        <p:spPr>
          <a:xfrm>
            <a:off x="3441095" y="4948305"/>
            <a:ext cx="7327640" cy="630942"/>
          </a:xfrm>
          <a:prstGeom prst="rect">
            <a:avLst/>
          </a:prstGeom>
          <a:noFill/>
        </p:spPr>
        <p:txBody>
          <a:bodyPr wrap="square" rtlCol="0">
            <a:spAutoFit/>
          </a:bodyPr>
          <a:lstStyle/>
          <a:p>
            <a:r>
              <a:rPr lang="en-US" sz="3500" b="1" dirty="0"/>
              <a:t>Challenges &amp; Future Objectives</a:t>
            </a:r>
          </a:p>
        </p:txBody>
      </p:sp>
      <p:sp>
        <p:nvSpPr>
          <p:cNvPr id="15" name="TextBox 14">
            <a:extLst>
              <a:ext uri="{FF2B5EF4-FFF2-40B4-BE49-F238E27FC236}">
                <a16:creationId xmlns:a16="http://schemas.microsoft.com/office/drawing/2014/main" id="{B9A85109-5057-C308-5C55-D764A7F529D1}"/>
              </a:ext>
            </a:extLst>
          </p:cNvPr>
          <p:cNvSpPr txBox="1"/>
          <p:nvPr/>
        </p:nvSpPr>
        <p:spPr>
          <a:xfrm>
            <a:off x="3456821" y="5872283"/>
            <a:ext cx="1832553" cy="477054"/>
          </a:xfrm>
          <a:prstGeom prst="rect">
            <a:avLst/>
          </a:prstGeom>
          <a:noFill/>
        </p:spPr>
        <p:txBody>
          <a:bodyPr wrap="none" rtlCol="0">
            <a:spAutoFit/>
          </a:bodyPr>
          <a:lstStyle/>
          <a:p>
            <a:r>
              <a:rPr lang="en-US" sz="2500" b="1" dirty="0"/>
              <a:t>Conclusion</a:t>
            </a:r>
          </a:p>
        </p:txBody>
      </p:sp>
      <p:sp>
        <p:nvSpPr>
          <p:cNvPr id="17" name="TextBox 16">
            <a:extLst>
              <a:ext uri="{FF2B5EF4-FFF2-40B4-BE49-F238E27FC236}">
                <a16:creationId xmlns:a16="http://schemas.microsoft.com/office/drawing/2014/main" id="{4A5A442F-4ADE-8514-4E3A-7BAA3C621266}"/>
              </a:ext>
            </a:extLst>
          </p:cNvPr>
          <p:cNvSpPr txBox="1"/>
          <p:nvPr/>
        </p:nvSpPr>
        <p:spPr>
          <a:xfrm>
            <a:off x="3521460" y="2529721"/>
            <a:ext cx="264816" cy="477054"/>
          </a:xfrm>
          <a:prstGeom prst="rect">
            <a:avLst/>
          </a:prstGeom>
          <a:noFill/>
        </p:spPr>
        <p:txBody>
          <a:bodyPr wrap="none" rtlCol="0">
            <a:spAutoFit/>
          </a:bodyPr>
          <a:lstStyle/>
          <a:p>
            <a:r>
              <a:rPr lang="en-US" sz="2500" b="1" dirty="0"/>
              <a:t> </a:t>
            </a:r>
          </a:p>
        </p:txBody>
      </p:sp>
      <p:sp>
        <p:nvSpPr>
          <p:cNvPr id="21" name="Freeform: Shape 20">
            <a:extLst>
              <a:ext uri="{FF2B5EF4-FFF2-40B4-BE49-F238E27FC236}">
                <a16:creationId xmlns:a16="http://schemas.microsoft.com/office/drawing/2014/main" id="{3EA4A5E4-4D32-3451-6BC7-7DDD211120A3}"/>
              </a:ext>
            </a:extLst>
          </p:cNvPr>
          <p:cNvSpPr/>
          <p:nvPr/>
        </p:nvSpPr>
        <p:spPr>
          <a:xfrm rot="5400000">
            <a:off x="5874792" y="628577"/>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7B6F01AC-0167-697C-B9DE-A04D0A485689}"/>
              </a:ext>
            </a:extLst>
          </p:cNvPr>
          <p:cNvSpPr/>
          <p:nvPr/>
        </p:nvSpPr>
        <p:spPr>
          <a:xfrm rot="10800000">
            <a:off x="6412422" y="99980"/>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89F029B-3062-AB86-0DF5-7EFB6D1B1361}"/>
              </a:ext>
            </a:extLst>
          </p:cNvPr>
          <p:cNvSpPr/>
          <p:nvPr/>
        </p:nvSpPr>
        <p:spPr>
          <a:xfrm>
            <a:off x="6423598" y="1168534"/>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A5CAB041-B09B-2FED-CD31-E2B39C46ECE2}"/>
              </a:ext>
            </a:extLst>
          </p:cNvPr>
          <p:cNvSpPr/>
          <p:nvPr/>
        </p:nvSpPr>
        <p:spPr>
          <a:xfrm rot="16200000">
            <a:off x="6958273" y="631216"/>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6" name="Freeform: Shape 25">
            <a:extLst>
              <a:ext uri="{FF2B5EF4-FFF2-40B4-BE49-F238E27FC236}">
                <a16:creationId xmlns:a16="http://schemas.microsoft.com/office/drawing/2014/main" id="{78F656AF-565B-2768-A0B2-2032518DC660}"/>
              </a:ext>
            </a:extLst>
          </p:cNvPr>
          <p:cNvSpPr/>
          <p:nvPr/>
        </p:nvSpPr>
        <p:spPr>
          <a:xfrm>
            <a:off x="6421222" y="849297"/>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7" name="Freeform: Shape 26">
            <a:extLst>
              <a:ext uri="{FF2B5EF4-FFF2-40B4-BE49-F238E27FC236}">
                <a16:creationId xmlns:a16="http://schemas.microsoft.com/office/drawing/2014/main" id="{814650D4-0601-213D-C0B0-83925E348D0B}"/>
              </a:ext>
            </a:extLst>
          </p:cNvPr>
          <p:cNvSpPr/>
          <p:nvPr/>
        </p:nvSpPr>
        <p:spPr>
          <a:xfrm rot="10800000">
            <a:off x="6423598" y="433185"/>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18" name="TextBox 17">
            <a:extLst>
              <a:ext uri="{FF2B5EF4-FFF2-40B4-BE49-F238E27FC236}">
                <a16:creationId xmlns:a16="http://schemas.microsoft.com/office/drawing/2014/main" id="{E0252BE9-7EF8-A765-203E-FA02556F648F}"/>
              </a:ext>
            </a:extLst>
          </p:cNvPr>
          <p:cNvSpPr txBox="1"/>
          <p:nvPr/>
        </p:nvSpPr>
        <p:spPr>
          <a:xfrm>
            <a:off x="3442193" y="2545425"/>
            <a:ext cx="5728743" cy="861774"/>
          </a:xfrm>
          <a:prstGeom prst="rect">
            <a:avLst/>
          </a:prstGeom>
          <a:noFill/>
        </p:spPr>
        <p:txBody>
          <a:bodyPr wrap="square" rtlCol="0">
            <a:spAutoFit/>
          </a:bodyPr>
          <a:lstStyle/>
          <a:p>
            <a:r>
              <a:rPr lang="en-US" sz="2500" b="1" dirty="0"/>
              <a:t>Case Study &amp; ER Diagram</a:t>
            </a:r>
          </a:p>
          <a:p>
            <a:endParaRPr lang="en-US" sz="2500" b="1" dirty="0"/>
          </a:p>
        </p:txBody>
      </p:sp>
    </p:spTree>
    <p:extLst>
      <p:ext uri="{BB962C8B-B14F-4D97-AF65-F5344CB8AC3E}">
        <p14:creationId xmlns:p14="http://schemas.microsoft.com/office/powerpoint/2010/main" val="2504894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0" y="0"/>
            <a:ext cx="12192000" cy="6858000"/>
          </a:xfrm>
          <a:prstGeom prst="rect">
            <a:avLst/>
          </a:prstGeom>
          <a:solidFill>
            <a:schemeClr val="accent6">
              <a:lumMod val="40000"/>
              <a:lumOff val="6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lumMod val="95000"/>
                  <a:lumOff val="5000"/>
                </a:schemeClr>
              </a:solid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rot="5400000">
            <a:off x="-939189" y="3695689"/>
            <a:ext cx="5404526" cy="679618"/>
          </a:xfrm>
          <a:prstGeom prst="roundRect">
            <a:avLst/>
          </a:prstGeom>
          <a:gradFill flip="none" rotWithShape="1">
            <a:gsLst>
              <a:gs pos="0">
                <a:schemeClr val="accent1">
                  <a:lumMod val="10000"/>
                  <a:tint val="66000"/>
                  <a:satMod val="160000"/>
                </a:schemeClr>
              </a:gs>
              <a:gs pos="50000">
                <a:schemeClr val="accent1">
                  <a:lumMod val="10000"/>
                  <a:tint val="44500"/>
                  <a:satMod val="160000"/>
                </a:schemeClr>
              </a:gs>
              <a:gs pos="100000">
                <a:schemeClr val="accent1">
                  <a:lumMod val="10000"/>
                  <a:tint val="23500"/>
                  <a:satMod val="160000"/>
                </a:schemeClr>
              </a:gs>
            </a:gsLst>
            <a:lin ang="13500000" scaled="1"/>
            <a:tileRect/>
          </a:gra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1872002" y="1733828"/>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1882742" y="5883673"/>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1872002" y="4975525"/>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1847466" y="4189786"/>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1872002" y="3355298"/>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1882744" y="2545425"/>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3A566F6-3D42-9783-7F6E-43072F4EC5BA}"/>
              </a:ext>
            </a:extLst>
          </p:cNvPr>
          <p:cNvSpPr txBox="1"/>
          <p:nvPr/>
        </p:nvSpPr>
        <p:spPr>
          <a:xfrm>
            <a:off x="4158021" y="475921"/>
            <a:ext cx="3508310" cy="630942"/>
          </a:xfrm>
          <a:prstGeom prst="rect">
            <a:avLst/>
          </a:prstGeom>
          <a:noFill/>
        </p:spPr>
        <p:txBody>
          <a:bodyPr wrap="square" rtlCol="0">
            <a:spAutoFit/>
          </a:bodyPr>
          <a:lstStyle/>
          <a:p>
            <a:r>
              <a:rPr lang="en-US" sz="3500" u="sng" dirty="0">
                <a:solidFill>
                  <a:schemeClr val="bg1"/>
                </a:solidFill>
                <a:latin typeface="+mj-lt"/>
              </a:rPr>
              <a:t>Outline</a:t>
            </a:r>
          </a:p>
        </p:txBody>
      </p:sp>
      <p:sp>
        <p:nvSpPr>
          <p:cNvPr id="4" name="Arrow: Right 3">
            <a:extLst>
              <a:ext uri="{FF2B5EF4-FFF2-40B4-BE49-F238E27FC236}">
                <a16:creationId xmlns:a16="http://schemas.microsoft.com/office/drawing/2014/main" id="{B1F3513B-0B03-7D7C-76BA-C1C186ED8558}"/>
              </a:ext>
            </a:extLst>
          </p:cNvPr>
          <p:cNvSpPr/>
          <p:nvPr/>
        </p:nvSpPr>
        <p:spPr>
          <a:xfrm>
            <a:off x="2551620" y="1733828"/>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E2745EFA-962D-7B30-B12D-A61A057B04B7}"/>
              </a:ext>
            </a:extLst>
          </p:cNvPr>
          <p:cNvSpPr/>
          <p:nvPr/>
        </p:nvSpPr>
        <p:spPr>
          <a:xfrm>
            <a:off x="2551620" y="58588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446C67A1-F461-AEA6-5228-9058CA842F98}"/>
              </a:ext>
            </a:extLst>
          </p:cNvPr>
          <p:cNvSpPr/>
          <p:nvPr/>
        </p:nvSpPr>
        <p:spPr>
          <a:xfrm>
            <a:off x="2548171" y="496798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FF920094-1A40-3923-E590-3B90F427DF91}"/>
              </a:ext>
            </a:extLst>
          </p:cNvPr>
          <p:cNvSpPr/>
          <p:nvPr/>
        </p:nvSpPr>
        <p:spPr>
          <a:xfrm>
            <a:off x="2534152" y="4213584"/>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148323BA-CA75-74A3-8939-7415D50A4C4A}"/>
              </a:ext>
            </a:extLst>
          </p:cNvPr>
          <p:cNvSpPr/>
          <p:nvPr/>
        </p:nvSpPr>
        <p:spPr>
          <a:xfrm>
            <a:off x="2548171" y="2519490"/>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B7FA9CAF-E684-BAF4-7B13-6DEB80387380}"/>
              </a:ext>
            </a:extLst>
          </p:cNvPr>
          <p:cNvSpPr/>
          <p:nvPr/>
        </p:nvSpPr>
        <p:spPr>
          <a:xfrm>
            <a:off x="2551620" y="3396655"/>
            <a:ext cx="895080" cy="517966"/>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CD5F74-2409-E42E-E52A-8CD251BB26C0}"/>
              </a:ext>
            </a:extLst>
          </p:cNvPr>
          <p:cNvSpPr txBox="1"/>
          <p:nvPr/>
        </p:nvSpPr>
        <p:spPr>
          <a:xfrm>
            <a:off x="3446700" y="1762010"/>
            <a:ext cx="7666650" cy="477054"/>
          </a:xfrm>
          <a:prstGeom prst="rect">
            <a:avLst/>
          </a:prstGeom>
          <a:noFill/>
        </p:spPr>
        <p:txBody>
          <a:bodyPr wrap="square" rtlCol="0">
            <a:spAutoFit/>
          </a:bodyPr>
          <a:lstStyle/>
          <a:p>
            <a:r>
              <a:rPr lang="en-US" sz="2500" b="1" dirty="0">
                <a:solidFill>
                  <a:srgbClr val="000000"/>
                </a:solidFill>
              </a:rPr>
              <a:t>Introduction</a:t>
            </a:r>
          </a:p>
        </p:txBody>
      </p:sp>
      <p:sp>
        <p:nvSpPr>
          <p:cNvPr id="12" name="TextBox 11">
            <a:extLst>
              <a:ext uri="{FF2B5EF4-FFF2-40B4-BE49-F238E27FC236}">
                <a16:creationId xmlns:a16="http://schemas.microsoft.com/office/drawing/2014/main" id="{7D12DD0A-B5EA-AD9F-9188-37A17C1660BE}"/>
              </a:ext>
            </a:extLst>
          </p:cNvPr>
          <p:cNvSpPr txBox="1"/>
          <p:nvPr/>
        </p:nvSpPr>
        <p:spPr>
          <a:xfrm>
            <a:off x="3454560" y="3370958"/>
            <a:ext cx="2912977" cy="477054"/>
          </a:xfrm>
          <a:prstGeom prst="rect">
            <a:avLst/>
          </a:prstGeom>
          <a:noFill/>
        </p:spPr>
        <p:txBody>
          <a:bodyPr wrap="none" rtlCol="0">
            <a:spAutoFit/>
          </a:bodyPr>
          <a:lstStyle/>
          <a:p>
            <a:r>
              <a:rPr lang="en-US" sz="2500" b="1" dirty="0"/>
              <a:t>Database Structure</a:t>
            </a:r>
          </a:p>
        </p:txBody>
      </p:sp>
      <p:sp>
        <p:nvSpPr>
          <p:cNvPr id="13" name="TextBox 12">
            <a:extLst>
              <a:ext uri="{FF2B5EF4-FFF2-40B4-BE49-F238E27FC236}">
                <a16:creationId xmlns:a16="http://schemas.microsoft.com/office/drawing/2014/main" id="{5CF7BCB5-D23A-5B2B-F968-84FD8605367F}"/>
              </a:ext>
            </a:extLst>
          </p:cNvPr>
          <p:cNvSpPr txBox="1"/>
          <p:nvPr/>
        </p:nvSpPr>
        <p:spPr>
          <a:xfrm>
            <a:off x="3429232" y="4205023"/>
            <a:ext cx="6211957" cy="477054"/>
          </a:xfrm>
          <a:prstGeom prst="rect">
            <a:avLst/>
          </a:prstGeom>
          <a:noFill/>
        </p:spPr>
        <p:txBody>
          <a:bodyPr wrap="none" rtlCol="0">
            <a:spAutoFit/>
          </a:bodyPr>
          <a:lstStyle/>
          <a:p>
            <a:r>
              <a:rPr lang="en-US" sz="2500" b="1" kern="100" dirty="0"/>
              <a:t>How the System works &amp; Java connection</a:t>
            </a:r>
            <a:endParaRPr lang="en-US" sz="2500" b="1" dirty="0"/>
          </a:p>
        </p:txBody>
      </p:sp>
      <p:sp>
        <p:nvSpPr>
          <p:cNvPr id="14" name="TextBox 13">
            <a:extLst>
              <a:ext uri="{FF2B5EF4-FFF2-40B4-BE49-F238E27FC236}">
                <a16:creationId xmlns:a16="http://schemas.microsoft.com/office/drawing/2014/main" id="{8996C7C8-A78F-96AC-4F51-1FCCBFAFF6B6}"/>
              </a:ext>
            </a:extLst>
          </p:cNvPr>
          <p:cNvSpPr txBox="1"/>
          <p:nvPr/>
        </p:nvSpPr>
        <p:spPr>
          <a:xfrm>
            <a:off x="3456821" y="5008892"/>
            <a:ext cx="7311914" cy="477054"/>
          </a:xfrm>
          <a:prstGeom prst="rect">
            <a:avLst/>
          </a:prstGeom>
          <a:noFill/>
        </p:spPr>
        <p:txBody>
          <a:bodyPr wrap="square" rtlCol="0">
            <a:spAutoFit/>
          </a:bodyPr>
          <a:lstStyle/>
          <a:p>
            <a:r>
              <a:rPr lang="en-US" sz="2500" b="1" dirty="0"/>
              <a:t>Challenges &amp; Future Objective</a:t>
            </a:r>
          </a:p>
        </p:txBody>
      </p:sp>
      <p:sp>
        <p:nvSpPr>
          <p:cNvPr id="15" name="TextBox 14">
            <a:extLst>
              <a:ext uri="{FF2B5EF4-FFF2-40B4-BE49-F238E27FC236}">
                <a16:creationId xmlns:a16="http://schemas.microsoft.com/office/drawing/2014/main" id="{B9A85109-5057-C308-5C55-D764A7F529D1}"/>
              </a:ext>
            </a:extLst>
          </p:cNvPr>
          <p:cNvSpPr txBox="1"/>
          <p:nvPr/>
        </p:nvSpPr>
        <p:spPr>
          <a:xfrm>
            <a:off x="3456821" y="5801965"/>
            <a:ext cx="2491388" cy="630942"/>
          </a:xfrm>
          <a:prstGeom prst="rect">
            <a:avLst/>
          </a:prstGeom>
          <a:noFill/>
        </p:spPr>
        <p:txBody>
          <a:bodyPr wrap="none" rtlCol="0">
            <a:spAutoFit/>
          </a:bodyPr>
          <a:lstStyle/>
          <a:p>
            <a:r>
              <a:rPr lang="en-US" sz="3500" b="1" dirty="0"/>
              <a:t>Conclusion</a:t>
            </a:r>
          </a:p>
        </p:txBody>
      </p:sp>
      <p:sp>
        <p:nvSpPr>
          <p:cNvPr id="17" name="TextBox 16">
            <a:extLst>
              <a:ext uri="{FF2B5EF4-FFF2-40B4-BE49-F238E27FC236}">
                <a16:creationId xmlns:a16="http://schemas.microsoft.com/office/drawing/2014/main" id="{4A5A442F-4ADE-8514-4E3A-7BAA3C621266}"/>
              </a:ext>
            </a:extLst>
          </p:cNvPr>
          <p:cNvSpPr txBox="1"/>
          <p:nvPr/>
        </p:nvSpPr>
        <p:spPr>
          <a:xfrm>
            <a:off x="3521460" y="2529721"/>
            <a:ext cx="264816" cy="477054"/>
          </a:xfrm>
          <a:prstGeom prst="rect">
            <a:avLst/>
          </a:prstGeom>
          <a:noFill/>
        </p:spPr>
        <p:txBody>
          <a:bodyPr wrap="none" rtlCol="0">
            <a:spAutoFit/>
          </a:bodyPr>
          <a:lstStyle/>
          <a:p>
            <a:r>
              <a:rPr lang="en-US" sz="2500" b="1" dirty="0"/>
              <a:t> </a:t>
            </a:r>
          </a:p>
        </p:txBody>
      </p:sp>
      <p:sp>
        <p:nvSpPr>
          <p:cNvPr id="21" name="Freeform: Shape 20">
            <a:extLst>
              <a:ext uri="{FF2B5EF4-FFF2-40B4-BE49-F238E27FC236}">
                <a16:creationId xmlns:a16="http://schemas.microsoft.com/office/drawing/2014/main" id="{3EA4A5E4-4D32-3451-6BC7-7DDD211120A3}"/>
              </a:ext>
            </a:extLst>
          </p:cNvPr>
          <p:cNvSpPr/>
          <p:nvPr/>
        </p:nvSpPr>
        <p:spPr>
          <a:xfrm rot="5400000">
            <a:off x="5874792" y="628577"/>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7B6F01AC-0167-697C-B9DE-A04D0A485689}"/>
              </a:ext>
            </a:extLst>
          </p:cNvPr>
          <p:cNvSpPr/>
          <p:nvPr/>
        </p:nvSpPr>
        <p:spPr>
          <a:xfrm rot="10800000">
            <a:off x="6412422" y="99980"/>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89F029B-3062-AB86-0DF5-7EFB6D1B1361}"/>
              </a:ext>
            </a:extLst>
          </p:cNvPr>
          <p:cNvSpPr/>
          <p:nvPr/>
        </p:nvSpPr>
        <p:spPr>
          <a:xfrm>
            <a:off x="6423598" y="1168534"/>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A5CAB041-B09B-2FED-CD31-E2B39C46ECE2}"/>
              </a:ext>
            </a:extLst>
          </p:cNvPr>
          <p:cNvSpPr/>
          <p:nvPr/>
        </p:nvSpPr>
        <p:spPr>
          <a:xfrm rot="16200000">
            <a:off x="6958273" y="631216"/>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6" name="Freeform: Shape 25">
            <a:extLst>
              <a:ext uri="{FF2B5EF4-FFF2-40B4-BE49-F238E27FC236}">
                <a16:creationId xmlns:a16="http://schemas.microsoft.com/office/drawing/2014/main" id="{78F656AF-565B-2768-A0B2-2032518DC660}"/>
              </a:ext>
            </a:extLst>
          </p:cNvPr>
          <p:cNvSpPr/>
          <p:nvPr/>
        </p:nvSpPr>
        <p:spPr>
          <a:xfrm>
            <a:off x="6421222" y="849297"/>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7" name="Freeform: Shape 26">
            <a:extLst>
              <a:ext uri="{FF2B5EF4-FFF2-40B4-BE49-F238E27FC236}">
                <a16:creationId xmlns:a16="http://schemas.microsoft.com/office/drawing/2014/main" id="{814650D4-0601-213D-C0B0-83925E348D0B}"/>
              </a:ext>
            </a:extLst>
          </p:cNvPr>
          <p:cNvSpPr/>
          <p:nvPr/>
        </p:nvSpPr>
        <p:spPr>
          <a:xfrm rot="10800000">
            <a:off x="6423598" y="433185"/>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18" name="TextBox 17">
            <a:extLst>
              <a:ext uri="{FF2B5EF4-FFF2-40B4-BE49-F238E27FC236}">
                <a16:creationId xmlns:a16="http://schemas.microsoft.com/office/drawing/2014/main" id="{E0252BE9-7EF8-A765-203E-FA02556F648F}"/>
              </a:ext>
            </a:extLst>
          </p:cNvPr>
          <p:cNvSpPr txBox="1"/>
          <p:nvPr/>
        </p:nvSpPr>
        <p:spPr>
          <a:xfrm>
            <a:off x="3442193" y="2545425"/>
            <a:ext cx="5728743" cy="861774"/>
          </a:xfrm>
          <a:prstGeom prst="rect">
            <a:avLst/>
          </a:prstGeom>
          <a:noFill/>
        </p:spPr>
        <p:txBody>
          <a:bodyPr wrap="square" rtlCol="0">
            <a:spAutoFit/>
          </a:bodyPr>
          <a:lstStyle/>
          <a:p>
            <a:r>
              <a:rPr lang="en-US" sz="2500" b="1" dirty="0"/>
              <a:t>Case Study &amp; ER Diagram</a:t>
            </a:r>
          </a:p>
          <a:p>
            <a:endParaRPr lang="en-US" sz="2500" b="1" dirty="0"/>
          </a:p>
        </p:txBody>
      </p:sp>
    </p:spTree>
    <p:extLst>
      <p:ext uri="{BB962C8B-B14F-4D97-AF65-F5344CB8AC3E}">
        <p14:creationId xmlns:p14="http://schemas.microsoft.com/office/powerpoint/2010/main" val="1076035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9758A4-6AE9-9220-1B89-8C1DE0FA3F49}"/>
              </a:ext>
            </a:extLst>
          </p:cNvPr>
          <p:cNvSpPr/>
          <p:nvPr/>
        </p:nvSpPr>
        <p:spPr>
          <a:xfrm>
            <a:off x="-13102" y="-47794"/>
            <a:ext cx="12205102" cy="6995344"/>
          </a:xfrm>
          <a:prstGeom prst="rect">
            <a:avLst/>
          </a:prstGeom>
          <a:solidFill>
            <a:srgbClr val="FDFBF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lumMod val="95000"/>
              <a:lumOff val="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809848" y="5701767"/>
            <a:ext cx="858500" cy="821031"/>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solidFill>
                  <a:schemeClr val="tx1"/>
                </a:solidFill>
              </a:rPr>
              <a:t>Intro</a:t>
            </a: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616916" y="6150430"/>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431809" y="6142544"/>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275273" y="6145449"/>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4107370" y="6082021"/>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rgbClr val="E6F0FE"/>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rgbClr val="E6F0FE"/>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Rectangle 13">
            <a:extLst>
              <a:ext uri="{FF2B5EF4-FFF2-40B4-BE49-F238E27FC236}">
                <a16:creationId xmlns:a16="http://schemas.microsoft.com/office/drawing/2014/main" id="{0FA2D388-FF0B-6AB5-664D-C914F04D590B}"/>
              </a:ext>
            </a:extLst>
          </p:cNvPr>
          <p:cNvSpPr/>
          <p:nvPr/>
        </p:nvSpPr>
        <p:spPr>
          <a:xfrm>
            <a:off x="0" y="-47794"/>
            <a:ext cx="12192000" cy="11561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81D50F6-0777-AD00-013F-D24750DFDD08}"/>
              </a:ext>
            </a:extLst>
          </p:cNvPr>
          <p:cNvSpPr txBox="1"/>
          <p:nvPr/>
        </p:nvSpPr>
        <p:spPr>
          <a:xfrm>
            <a:off x="3473286" y="227560"/>
            <a:ext cx="5769820" cy="553998"/>
          </a:xfrm>
          <a:prstGeom prst="rect">
            <a:avLst/>
          </a:prstGeom>
          <a:noFill/>
        </p:spPr>
        <p:txBody>
          <a:bodyPr wrap="square" rtlCol="0">
            <a:spAutoFit/>
          </a:bodyPr>
          <a:lstStyle/>
          <a:p>
            <a:r>
              <a:rPr lang="en-US" sz="3000" b="1" dirty="0">
                <a:solidFill>
                  <a:srgbClr val="FDFBF6"/>
                </a:solidFill>
              </a:rPr>
              <a:t>Criminal Face Detection System</a:t>
            </a:r>
          </a:p>
        </p:txBody>
      </p:sp>
      <p:sp>
        <p:nvSpPr>
          <p:cNvPr id="12" name="Rectangle: Rounded Corners 11">
            <a:extLst>
              <a:ext uri="{FF2B5EF4-FFF2-40B4-BE49-F238E27FC236}">
                <a16:creationId xmlns:a16="http://schemas.microsoft.com/office/drawing/2014/main" id="{B6C1497D-474E-137D-EE49-1A7CF34EC1B3}"/>
              </a:ext>
            </a:extLst>
          </p:cNvPr>
          <p:cNvSpPr/>
          <p:nvPr/>
        </p:nvSpPr>
        <p:spPr>
          <a:xfrm>
            <a:off x="4640702" y="1466674"/>
            <a:ext cx="2328170" cy="101555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What does it mean?</a:t>
            </a:r>
          </a:p>
        </p:txBody>
      </p:sp>
      <p:sp>
        <p:nvSpPr>
          <p:cNvPr id="10" name="TextBox 9">
            <a:extLst>
              <a:ext uri="{FF2B5EF4-FFF2-40B4-BE49-F238E27FC236}">
                <a16:creationId xmlns:a16="http://schemas.microsoft.com/office/drawing/2014/main" id="{37765B1A-28A6-2205-7D63-87707BFD8E29}"/>
              </a:ext>
            </a:extLst>
          </p:cNvPr>
          <p:cNvSpPr txBox="1"/>
          <p:nvPr/>
        </p:nvSpPr>
        <p:spPr>
          <a:xfrm>
            <a:off x="1900430" y="2753294"/>
            <a:ext cx="7808715"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a:t>
            </a:r>
            <a:r>
              <a:rPr lang="en-US" sz="1800" dirty="0">
                <a:latin typeface="Times New Roman" panose="02020603050405020304" pitchFamily="18" charset="0"/>
                <a:cs typeface="Times New Roman" panose="02020603050405020304" pitchFamily="18" charset="0"/>
              </a:rPr>
              <a:t>tores pictures of known criminals' faces.</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a:t>
            </a:r>
            <a:r>
              <a:rPr lang="en-US" sz="1800" dirty="0">
                <a:latin typeface="Times New Roman" panose="02020603050405020304" pitchFamily="18" charset="0"/>
                <a:cs typeface="Times New Roman" panose="02020603050405020304" pitchFamily="18" charset="0"/>
              </a:rPr>
              <a:t>ind suspects by matching their faces with the ones in the database.</a:t>
            </a:r>
          </a:p>
          <a:p>
            <a:pPr marL="285750" indent="-285750">
              <a:buFont typeface="Wingdings" panose="05000000000000000000" pitchFamily="2" charset="2"/>
              <a:buChar char="§"/>
            </a:pPr>
            <a:r>
              <a:rPr lang="en-US" dirty="0"/>
              <a:t>Prevent crimes before they occur.</a:t>
            </a:r>
          </a:p>
        </p:txBody>
      </p:sp>
    </p:spTree>
    <p:extLst>
      <p:ext uri="{BB962C8B-B14F-4D97-AF65-F5344CB8AC3E}">
        <p14:creationId xmlns:p14="http://schemas.microsoft.com/office/powerpoint/2010/main" val="3383539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79310" y="0"/>
            <a:ext cx="12350620" cy="6822162"/>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lumMod val="95000"/>
              <a:lumOff val="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616916" y="6150430"/>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431809" y="6142544"/>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275273" y="6145449"/>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3982925" y="5804476"/>
            <a:ext cx="804190" cy="75626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solidFill>
                  <a:schemeClr val="tx1"/>
                </a:solidFill>
              </a:rPr>
              <a:t>Case</a:t>
            </a:r>
          </a:p>
          <a:p>
            <a:pPr algn="ctr"/>
            <a:r>
              <a:rPr lang="en-US" sz="1200" dirty="0">
                <a:solidFill>
                  <a:schemeClr val="tx1"/>
                </a:solidFill>
              </a:rPr>
              <a:t>Study</a:t>
            </a:r>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EF8D1FB6-67EF-2681-AAAF-EC01EE72B8DA}"/>
              </a:ext>
            </a:extLst>
          </p:cNvPr>
          <p:cNvSpPr txBox="1"/>
          <p:nvPr/>
        </p:nvSpPr>
        <p:spPr>
          <a:xfrm>
            <a:off x="300559" y="492810"/>
            <a:ext cx="2722220" cy="630942"/>
          </a:xfrm>
          <a:prstGeom prst="rect">
            <a:avLst/>
          </a:prstGeom>
          <a:noFill/>
        </p:spPr>
        <p:txBody>
          <a:bodyPr wrap="none" rtlCol="0">
            <a:spAutoFit/>
          </a:bodyPr>
          <a:lstStyle/>
          <a:p>
            <a:r>
              <a:rPr lang="en-US" sz="3500" b="1" dirty="0">
                <a:solidFill>
                  <a:srgbClr val="FDFBF6"/>
                </a:solidFill>
              </a:rPr>
              <a:t>Destinations</a:t>
            </a:r>
          </a:p>
        </p:txBody>
      </p:sp>
      <p:sp>
        <p:nvSpPr>
          <p:cNvPr id="34" name="TextBox 33">
            <a:extLst>
              <a:ext uri="{FF2B5EF4-FFF2-40B4-BE49-F238E27FC236}">
                <a16:creationId xmlns:a16="http://schemas.microsoft.com/office/drawing/2014/main" id="{29C08E52-F355-EC2A-9629-1BA75B6406C4}"/>
              </a:ext>
            </a:extLst>
          </p:cNvPr>
          <p:cNvSpPr txBox="1"/>
          <p:nvPr/>
        </p:nvSpPr>
        <p:spPr>
          <a:xfrm>
            <a:off x="1610285" y="1823402"/>
            <a:ext cx="9283743" cy="3416320"/>
          </a:xfrm>
          <a:prstGeom prst="rect">
            <a:avLst/>
          </a:prstGeom>
          <a:noFill/>
        </p:spPr>
        <p:txBody>
          <a:bodyPr wrap="square" rtlCol="0">
            <a:spAutoFit/>
          </a:bodyPr>
          <a:lstStyle/>
          <a:p>
            <a:r>
              <a:rPr lang="en-US" sz="2400" dirty="0"/>
              <a:t>The </a:t>
            </a:r>
            <a:r>
              <a:rPr lang="en-US" sz="2400" dirty="0" err="1"/>
              <a:t>Vatara</a:t>
            </a:r>
            <a:r>
              <a:rPr lang="en-US" sz="2400" dirty="0"/>
              <a:t> Police Department implemented the Criminal Face Detecting System (CFDS) to address rising crime rates. CFDS integrates advanced facial recognition with real-time surveillance. It stores criminal information and captures images through CCTV for analysis. Each image contains unique details and is associated with facial features for precise comparison. Detection records instances of a criminal's face identified within images. This system streamlines tracking and identification of criminals through facial recognition technology.</a:t>
            </a:r>
          </a:p>
        </p:txBody>
      </p:sp>
      <p:sp>
        <p:nvSpPr>
          <p:cNvPr id="36" name="Rectangle 35">
            <a:extLst>
              <a:ext uri="{FF2B5EF4-FFF2-40B4-BE49-F238E27FC236}">
                <a16:creationId xmlns:a16="http://schemas.microsoft.com/office/drawing/2014/main" id="{659C3D8E-0D5C-F6C3-1579-3ED86AA3BAB8}"/>
              </a:ext>
            </a:extLst>
          </p:cNvPr>
          <p:cNvSpPr/>
          <p:nvPr/>
        </p:nvSpPr>
        <p:spPr>
          <a:xfrm>
            <a:off x="-79310" y="0"/>
            <a:ext cx="12350620" cy="11561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Case Study</a:t>
            </a:r>
          </a:p>
        </p:txBody>
      </p:sp>
    </p:spTree>
    <p:extLst>
      <p:ext uri="{BB962C8B-B14F-4D97-AF65-F5344CB8AC3E}">
        <p14:creationId xmlns:p14="http://schemas.microsoft.com/office/powerpoint/2010/main" val="1334972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79310" y="-158747"/>
            <a:ext cx="12350620" cy="6822162"/>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lumMod val="95000"/>
              <a:lumOff val="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616916" y="6150430"/>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431809" y="6142544"/>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275273" y="6145449"/>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EF8D1FB6-67EF-2681-AAAF-EC01EE72B8DA}"/>
              </a:ext>
            </a:extLst>
          </p:cNvPr>
          <p:cNvSpPr txBox="1"/>
          <p:nvPr/>
        </p:nvSpPr>
        <p:spPr>
          <a:xfrm>
            <a:off x="300559" y="492810"/>
            <a:ext cx="2722220" cy="630942"/>
          </a:xfrm>
          <a:prstGeom prst="rect">
            <a:avLst/>
          </a:prstGeom>
          <a:noFill/>
        </p:spPr>
        <p:txBody>
          <a:bodyPr wrap="none" rtlCol="0">
            <a:spAutoFit/>
          </a:bodyPr>
          <a:lstStyle/>
          <a:p>
            <a:r>
              <a:rPr lang="en-US" sz="3500" b="1" dirty="0">
                <a:solidFill>
                  <a:srgbClr val="FDFBF6"/>
                </a:solidFill>
              </a:rPr>
              <a:t>Destinations</a:t>
            </a:r>
          </a:p>
        </p:txBody>
      </p:sp>
      <p:pic>
        <p:nvPicPr>
          <p:cNvPr id="5" name="Picture 4" descr="A diagram of a diagram&#10;&#10;Description automatically generated">
            <a:extLst>
              <a:ext uri="{FF2B5EF4-FFF2-40B4-BE49-F238E27FC236}">
                <a16:creationId xmlns:a16="http://schemas.microsoft.com/office/drawing/2014/main" id="{2603D2EA-EDCA-BA8E-EEE7-960CA2B70731}"/>
              </a:ext>
            </a:extLst>
          </p:cNvPr>
          <p:cNvPicPr>
            <a:picLocks noChangeAspect="1"/>
          </p:cNvPicPr>
          <p:nvPr/>
        </p:nvPicPr>
        <p:blipFill>
          <a:blip r:embed="rId2"/>
          <a:stretch>
            <a:fillRect/>
          </a:stretch>
        </p:blipFill>
        <p:spPr>
          <a:xfrm>
            <a:off x="2208582" y="219414"/>
            <a:ext cx="7774836" cy="5234240"/>
          </a:xfrm>
          <a:prstGeom prst="rect">
            <a:avLst/>
          </a:prstGeom>
        </p:spPr>
      </p:pic>
      <p:sp>
        <p:nvSpPr>
          <p:cNvPr id="259" name="Flowchart: Connector 258">
            <a:extLst>
              <a:ext uri="{FF2B5EF4-FFF2-40B4-BE49-F238E27FC236}">
                <a16:creationId xmlns:a16="http://schemas.microsoft.com/office/drawing/2014/main" id="{16401B40-92C5-EF01-881E-B27144836CE1}"/>
              </a:ext>
            </a:extLst>
          </p:cNvPr>
          <p:cNvSpPr/>
          <p:nvPr/>
        </p:nvSpPr>
        <p:spPr>
          <a:xfrm>
            <a:off x="3829911" y="5447726"/>
            <a:ext cx="1123173" cy="104620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solidFill>
                  <a:schemeClr val="tx1"/>
                </a:solidFill>
              </a:rPr>
              <a:t>ER</a:t>
            </a:r>
          </a:p>
          <a:p>
            <a:pPr algn="ctr"/>
            <a:r>
              <a:rPr lang="en-US" sz="1200" dirty="0">
                <a:solidFill>
                  <a:schemeClr val="tx1"/>
                </a:solidFill>
              </a:rPr>
              <a:t>Diagram</a:t>
            </a:r>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154180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0" y="23462"/>
            <a:ext cx="12192000" cy="6822162"/>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616916" y="6150430"/>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431809" y="6142544"/>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145348" y="5697224"/>
            <a:ext cx="831296" cy="785129"/>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solidFill>
                  <a:schemeClr val="tx1"/>
                </a:solidFill>
              </a:rPr>
              <a:t>Struct</a:t>
            </a:r>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4101036" y="6157871"/>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Rectangle 9">
            <a:extLst>
              <a:ext uri="{FF2B5EF4-FFF2-40B4-BE49-F238E27FC236}">
                <a16:creationId xmlns:a16="http://schemas.microsoft.com/office/drawing/2014/main" id="{E420EBBC-95EB-4F4F-3074-1E6A714E8B9D}"/>
              </a:ext>
            </a:extLst>
          </p:cNvPr>
          <p:cNvSpPr/>
          <p:nvPr/>
        </p:nvSpPr>
        <p:spPr>
          <a:xfrm>
            <a:off x="2448143" y="2358240"/>
            <a:ext cx="1730280" cy="679618"/>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solidFill>
                  <a:schemeClr val="bg1"/>
                </a:solidFill>
              </a:rPr>
              <a:t>Criminal Information</a:t>
            </a:r>
          </a:p>
        </p:txBody>
      </p:sp>
      <p:sp>
        <p:nvSpPr>
          <p:cNvPr id="12" name="Rectangle 11">
            <a:extLst>
              <a:ext uri="{FF2B5EF4-FFF2-40B4-BE49-F238E27FC236}">
                <a16:creationId xmlns:a16="http://schemas.microsoft.com/office/drawing/2014/main" id="{CA8C44BE-B063-6F91-5A40-110FA9DA81F1}"/>
              </a:ext>
            </a:extLst>
          </p:cNvPr>
          <p:cNvSpPr/>
          <p:nvPr/>
        </p:nvSpPr>
        <p:spPr>
          <a:xfrm>
            <a:off x="0" y="8238"/>
            <a:ext cx="12192000" cy="11561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Project Structure</a:t>
            </a:r>
          </a:p>
        </p:txBody>
      </p:sp>
      <p:sp>
        <p:nvSpPr>
          <p:cNvPr id="14" name="TextBox 13">
            <a:extLst>
              <a:ext uri="{FF2B5EF4-FFF2-40B4-BE49-F238E27FC236}">
                <a16:creationId xmlns:a16="http://schemas.microsoft.com/office/drawing/2014/main" id="{376DB52A-F67A-AA43-6FDF-38999B0C30E2}"/>
              </a:ext>
            </a:extLst>
          </p:cNvPr>
          <p:cNvSpPr txBox="1"/>
          <p:nvPr/>
        </p:nvSpPr>
        <p:spPr>
          <a:xfrm>
            <a:off x="2406819" y="1643768"/>
            <a:ext cx="251242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5 Tables:</a:t>
            </a:r>
          </a:p>
        </p:txBody>
      </p:sp>
      <p:cxnSp>
        <p:nvCxnSpPr>
          <p:cNvPr id="18" name="Straight Arrow Connector 17">
            <a:extLst>
              <a:ext uri="{FF2B5EF4-FFF2-40B4-BE49-F238E27FC236}">
                <a16:creationId xmlns:a16="http://schemas.microsoft.com/office/drawing/2014/main" id="{2DECC34A-A0E6-1C1A-24B6-DF6B6E7F85C2}"/>
              </a:ext>
            </a:extLst>
          </p:cNvPr>
          <p:cNvCxnSpPr>
            <a:cxnSpLocks/>
          </p:cNvCxnSpPr>
          <p:nvPr/>
        </p:nvCxnSpPr>
        <p:spPr>
          <a:xfrm>
            <a:off x="4151332" y="2698049"/>
            <a:ext cx="109001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0" name="Rectangle 19">
            <a:extLst>
              <a:ext uri="{FF2B5EF4-FFF2-40B4-BE49-F238E27FC236}">
                <a16:creationId xmlns:a16="http://schemas.microsoft.com/office/drawing/2014/main" id="{70B37313-810A-75FC-79A9-95517251C242}"/>
              </a:ext>
            </a:extLst>
          </p:cNvPr>
          <p:cNvSpPr/>
          <p:nvPr/>
        </p:nvSpPr>
        <p:spPr>
          <a:xfrm>
            <a:off x="5241351" y="2358240"/>
            <a:ext cx="1730280" cy="679618"/>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solidFill>
                  <a:schemeClr val="bg1"/>
                </a:solidFill>
              </a:rPr>
              <a:t>Image Information</a:t>
            </a:r>
          </a:p>
        </p:txBody>
      </p:sp>
      <p:cxnSp>
        <p:nvCxnSpPr>
          <p:cNvPr id="22" name="Straight Arrow Connector 21">
            <a:extLst>
              <a:ext uri="{FF2B5EF4-FFF2-40B4-BE49-F238E27FC236}">
                <a16:creationId xmlns:a16="http://schemas.microsoft.com/office/drawing/2014/main" id="{E3F71484-B663-EBC9-E7C5-6F9C155FDD6B}"/>
              </a:ext>
            </a:extLst>
          </p:cNvPr>
          <p:cNvCxnSpPr/>
          <p:nvPr/>
        </p:nvCxnSpPr>
        <p:spPr>
          <a:xfrm>
            <a:off x="6944540" y="2698049"/>
            <a:ext cx="109001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3" name="Rectangle 22">
            <a:extLst>
              <a:ext uri="{FF2B5EF4-FFF2-40B4-BE49-F238E27FC236}">
                <a16:creationId xmlns:a16="http://schemas.microsoft.com/office/drawing/2014/main" id="{AC363697-9E58-E56A-0AE4-43E9598E8A5F}"/>
              </a:ext>
            </a:extLst>
          </p:cNvPr>
          <p:cNvSpPr/>
          <p:nvPr/>
        </p:nvSpPr>
        <p:spPr>
          <a:xfrm>
            <a:off x="8034559" y="2358240"/>
            <a:ext cx="1730280" cy="679618"/>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solidFill>
                  <a:schemeClr val="bg1"/>
                </a:solidFill>
              </a:rPr>
              <a:t>Feature Information</a:t>
            </a:r>
          </a:p>
        </p:txBody>
      </p:sp>
      <p:cxnSp>
        <p:nvCxnSpPr>
          <p:cNvPr id="24" name="Straight Arrow Connector 23">
            <a:extLst>
              <a:ext uri="{FF2B5EF4-FFF2-40B4-BE49-F238E27FC236}">
                <a16:creationId xmlns:a16="http://schemas.microsoft.com/office/drawing/2014/main" id="{19A61666-8F84-97AE-E1E6-D3BDF11AF7E5}"/>
              </a:ext>
            </a:extLst>
          </p:cNvPr>
          <p:cNvCxnSpPr>
            <a:cxnSpLocks/>
            <a:stCxn id="23" idx="2"/>
          </p:cNvCxnSpPr>
          <p:nvPr/>
        </p:nvCxnSpPr>
        <p:spPr>
          <a:xfrm>
            <a:off x="8899699" y="3037858"/>
            <a:ext cx="0" cy="9669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Rectangle 27">
            <a:extLst>
              <a:ext uri="{FF2B5EF4-FFF2-40B4-BE49-F238E27FC236}">
                <a16:creationId xmlns:a16="http://schemas.microsoft.com/office/drawing/2014/main" id="{7C5900C7-5E79-708C-2904-9EB645C7623E}"/>
              </a:ext>
            </a:extLst>
          </p:cNvPr>
          <p:cNvSpPr/>
          <p:nvPr/>
        </p:nvSpPr>
        <p:spPr>
          <a:xfrm>
            <a:off x="8034559" y="4012727"/>
            <a:ext cx="1730280" cy="679618"/>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solidFill>
                  <a:schemeClr val="bg1"/>
                </a:solidFill>
              </a:rPr>
              <a:t>Detection Information</a:t>
            </a:r>
          </a:p>
        </p:txBody>
      </p:sp>
      <p:cxnSp>
        <p:nvCxnSpPr>
          <p:cNvPr id="29" name="Straight Arrow Connector 28">
            <a:extLst>
              <a:ext uri="{FF2B5EF4-FFF2-40B4-BE49-F238E27FC236}">
                <a16:creationId xmlns:a16="http://schemas.microsoft.com/office/drawing/2014/main" id="{C057D08F-6001-855A-2DE4-54FC0EE2D31A}"/>
              </a:ext>
            </a:extLst>
          </p:cNvPr>
          <p:cNvCxnSpPr>
            <a:cxnSpLocks/>
            <a:stCxn id="10" idx="2"/>
            <a:endCxn id="34" idx="0"/>
          </p:cNvCxnSpPr>
          <p:nvPr/>
        </p:nvCxnSpPr>
        <p:spPr>
          <a:xfrm>
            <a:off x="3313283" y="3037858"/>
            <a:ext cx="0" cy="90832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4" name="Rectangle 33">
            <a:extLst>
              <a:ext uri="{FF2B5EF4-FFF2-40B4-BE49-F238E27FC236}">
                <a16:creationId xmlns:a16="http://schemas.microsoft.com/office/drawing/2014/main" id="{FC5FB13C-0918-3107-4CB8-CD6095964645}"/>
              </a:ext>
            </a:extLst>
          </p:cNvPr>
          <p:cNvSpPr/>
          <p:nvPr/>
        </p:nvSpPr>
        <p:spPr>
          <a:xfrm>
            <a:off x="2448143" y="3946179"/>
            <a:ext cx="1730280" cy="679618"/>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solidFill>
                  <a:schemeClr val="bg1"/>
                </a:solidFill>
              </a:rPr>
              <a:t>Address</a:t>
            </a:r>
          </a:p>
        </p:txBody>
      </p:sp>
    </p:spTree>
    <p:extLst>
      <p:ext uri="{BB962C8B-B14F-4D97-AF65-F5344CB8AC3E}">
        <p14:creationId xmlns:p14="http://schemas.microsoft.com/office/powerpoint/2010/main" val="2476400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20" grpId="0" animBg="1"/>
      <p:bldP spid="23" grpId="0" animBg="1"/>
      <p:bldP spid="28" grpId="0" animBg="1"/>
      <p:bldP spid="3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0" y="-202453"/>
            <a:ext cx="12350620" cy="6822162"/>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616916" y="6150430"/>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431809" y="6142544"/>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145348" y="5697224"/>
            <a:ext cx="831296" cy="785129"/>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solidFill>
                  <a:schemeClr val="tx1"/>
                </a:solidFill>
              </a:rPr>
              <a:t>Struct</a:t>
            </a:r>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4101036" y="6157871"/>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extBox 6">
            <a:extLst>
              <a:ext uri="{FF2B5EF4-FFF2-40B4-BE49-F238E27FC236}">
                <a16:creationId xmlns:a16="http://schemas.microsoft.com/office/drawing/2014/main" id="{E4FB612F-2501-CF75-E6AA-5ADDCD8C38B1}"/>
              </a:ext>
            </a:extLst>
          </p:cNvPr>
          <p:cNvSpPr txBox="1"/>
          <p:nvPr/>
        </p:nvSpPr>
        <p:spPr>
          <a:xfrm>
            <a:off x="4488151" y="375647"/>
            <a:ext cx="2905245" cy="523220"/>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800" b="1" dirty="0"/>
              <a:t>Project Structure</a:t>
            </a:r>
          </a:p>
        </p:txBody>
      </p:sp>
      <p:sp>
        <p:nvSpPr>
          <p:cNvPr id="12" name="Rectangle 11">
            <a:extLst>
              <a:ext uri="{FF2B5EF4-FFF2-40B4-BE49-F238E27FC236}">
                <a16:creationId xmlns:a16="http://schemas.microsoft.com/office/drawing/2014/main" id="{CA8C44BE-B063-6F91-5A40-110FA9DA81F1}"/>
              </a:ext>
            </a:extLst>
          </p:cNvPr>
          <p:cNvSpPr/>
          <p:nvPr/>
        </p:nvSpPr>
        <p:spPr>
          <a:xfrm>
            <a:off x="2493" y="-202453"/>
            <a:ext cx="12348127" cy="11561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Project Structure</a:t>
            </a:r>
          </a:p>
        </p:txBody>
      </p:sp>
      <p:sp>
        <p:nvSpPr>
          <p:cNvPr id="14" name="TextBox 13">
            <a:extLst>
              <a:ext uri="{FF2B5EF4-FFF2-40B4-BE49-F238E27FC236}">
                <a16:creationId xmlns:a16="http://schemas.microsoft.com/office/drawing/2014/main" id="{376DB52A-F67A-AA43-6FDF-38999B0C30E2}"/>
              </a:ext>
            </a:extLst>
          </p:cNvPr>
          <p:cNvSpPr txBox="1"/>
          <p:nvPr/>
        </p:nvSpPr>
        <p:spPr>
          <a:xfrm>
            <a:off x="1444235" y="1201960"/>
            <a:ext cx="9827921" cy="1585049"/>
          </a:xfrm>
          <a:prstGeom prst="rect">
            <a:avLst/>
          </a:prstGeom>
          <a:noFill/>
        </p:spPr>
        <p:txBody>
          <a:bodyPr wrap="square" rtlCol="0">
            <a:spAutoFit/>
          </a:bodyPr>
          <a:lstStyle/>
          <a:p>
            <a:pPr algn="just"/>
            <a:r>
              <a:rPr lang="en-US" sz="2500" b="1" dirty="0">
                <a:latin typeface="Times New Roman" panose="02020603050405020304" pitchFamily="18" charset="0"/>
                <a:cs typeface="Times New Roman" panose="02020603050405020304" pitchFamily="18" charset="0"/>
              </a:rPr>
              <a:t>Data Organization: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are organized hierarchically.</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Tables are linked through unique identifiers.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Relational structure enables efficient data retrieval and management.</a:t>
            </a:r>
          </a:p>
        </p:txBody>
      </p:sp>
      <p:sp>
        <p:nvSpPr>
          <p:cNvPr id="2" name="TextBox 1">
            <a:extLst>
              <a:ext uri="{FF2B5EF4-FFF2-40B4-BE49-F238E27FC236}">
                <a16:creationId xmlns:a16="http://schemas.microsoft.com/office/drawing/2014/main" id="{6E80A878-C577-4B7F-288C-E5431144506B}"/>
              </a:ext>
            </a:extLst>
          </p:cNvPr>
          <p:cNvSpPr txBox="1"/>
          <p:nvPr/>
        </p:nvSpPr>
        <p:spPr>
          <a:xfrm>
            <a:off x="1444235" y="2954969"/>
            <a:ext cx="9653256" cy="267765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Finalization:</a:t>
            </a:r>
          </a:p>
          <a:p>
            <a:pPr marL="457200" indent="-457200">
              <a:buAutoNum type="arabicParenR"/>
            </a:pPr>
            <a:r>
              <a:rPr lang="en-US" sz="2400" dirty="0" err="1">
                <a:latin typeface="Times New Roman" panose="02020603050405020304" pitchFamily="18" charset="0"/>
                <a:cs typeface="Times New Roman" panose="02020603050405020304" pitchFamily="18" charset="0"/>
              </a:rPr>
              <a:t>Criminal_ID</a:t>
            </a:r>
            <a:r>
              <a:rPr lang="en-US" sz="2400" dirty="0">
                <a:latin typeface="Times New Roman" panose="02020603050405020304" pitchFamily="18" charset="0"/>
                <a:cs typeface="Times New Roman" panose="02020603050405020304" pitchFamily="18" charset="0"/>
              </a:rPr>
              <a:t> (pk), </a:t>
            </a:r>
            <a:r>
              <a:rPr lang="en-US" sz="2400" dirty="0" err="1">
                <a:latin typeface="Times New Roman" panose="02020603050405020304" pitchFamily="18" charset="0"/>
                <a:cs typeface="Times New Roman" panose="02020603050405020304" pitchFamily="18" charset="0"/>
              </a:rPr>
              <a:t>Image_ID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fk</a:t>
            </a:r>
            <a:r>
              <a:rPr lang="en-US" sz="2400" dirty="0">
                <a:latin typeface="Times New Roman" panose="02020603050405020304" pitchFamily="18" charset="0"/>
                <a:cs typeface="Times New Roman" panose="02020603050405020304" pitchFamily="18" charset="0"/>
              </a:rPr>
              <a:t>), Name, </a:t>
            </a:r>
            <a:r>
              <a:rPr lang="en-US" sz="2400" dirty="0" err="1">
                <a:latin typeface="Times New Roman" panose="02020603050405020304" pitchFamily="18" charset="0"/>
                <a:cs typeface="Times New Roman" panose="02020603050405020304" pitchFamily="18" charset="0"/>
              </a:rPr>
              <a:t>Date_of_Birth</a:t>
            </a:r>
            <a:r>
              <a:rPr lang="en-US" sz="2400" dirty="0">
                <a:latin typeface="Times New Roman" panose="02020603050405020304" pitchFamily="18" charset="0"/>
                <a:cs typeface="Times New Roman" panose="02020603050405020304" pitchFamily="18" charset="0"/>
              </a:rPr>
              <a:t>, Gender, Height, Nationality, Age.</a:t>
            </a:r>
          </a:p>
          <a:p>
            <a:r>
              <a:rPr lang="en-US" sz="2400" dirty="0">
                <a:latin typeface="Times New Roman" panose="02020603050405020304" pitchFamily="18" charset="0"/>
                <a:cs typeface="Times New Roman" panose="02020603050405020304" pitchFamily="18" charset="0"/>
              </a:rPr>
              <a:t>2) </a:t>
            </a:r>
            <a:r>
              <a:rPr lang="en-US" sz="2400" dirty="0" err="1">
                <a:latin typeface="Times New Roman" panose="02020603050405020304" pitchFamily="18" charset="0"/>
                <a:cs typeface="Times New Roman" panose="02020603050405020304" pitchFamily="18" charset="0"/>
              </a:rPr>
              <a:t>Image_ID</a:t>
            </a:r>
            <a:r>
              <a:rPr lang="en-US" sz="2400" dirty="0">
                <a:latin typeface="Times New Roman" panose="02020603050405020304" pitchFamily="18" charset="0"/>
                <a:cs typeface="Times New Roman" panose="02020603050405020304" pitchFamily="18" charset="0"/>
              </a:rPr>
              <a:t> (pk), </a:t>
            </a:r>
            <a:r>
              <a:rPr lang="en-US" sz="2400" dirty="0" err="1">
                <a:latin typeface="Times New Roman" panose="02020603050405020304" pitchFamily="18" charset="0"/>
                <a:cs typeface="Times New Roman" panose="02020603050405020304" pitchFamily="18" charset="0"/>
              </a:rPr>
              <a:t>Feature_ID</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fk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Image_URL</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Capture_Date</a:t>
            </a:r>
            <a:r>
              <a:rPr lang="en-US" sz="2400" dirty="0">
                <a:latin typeface="Times New Roman" panose="02020603050405020304" pitchFamily="18" charset="0"/>
                <a:cs typeface="Times New Roman" panose="02020603050405020304" pitchFamily="18" charset="0"/>
              </a:rPr>
              <a:t>, City.</a:t>
            </a:r>
          </a:p>
          <a:p>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Feature_ID</a:t>
            </a:r>
            <a:r>
              <a:rPr lang="en-US" sz="2400" dirty="0">
                <a:latin typeface="Times New Roman" panose="02020603050405020304" pitchFamily="18" charset="0"/>
                <a:cs typeface="Times New Roman" panose="02020603050405020304" pitchFamily="18" charset="0"/>
              </a:rPr>
              <a:t> (pk), </a:t>
            </a:r>
            <a:r>
              <a:rPr lang="en-US" sz="2400" dirty="0" err="1">
                <a:latin typeface="Times New Roman" panose="02020603050405020304" pitchFamily="18" charset="0"/>
                <a:cs typeface="Times New Roman" panose="02020603050405020304" pitchFamily="18" charset="0"/>
              </a:rPr>
              <a:t>Detection_ID</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fk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Hair_Color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Skin_Color</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4) </a:t>
            </a:r>
            <a:r>
              <a:rPr lang="en-US" sz="2400" dirty="0" err="1">
                <a:latin typeface="Times New Roman" panose="02020603050405020304" pitchFamily="18" charset="0"/>
                <a:cs typeface="Times New Roman" panose="02020603050405020304" pitchFamily="18" charset="0"/>
              </a:rPr>
              <a:t>Detection_ID</a:t>
            </a:r>
            <a:r>
              <a:rPr lang="en-US" sz="2400" dirty="0">
                <a:latin typeface="Times New Roman" panose="02020603050405020304" pitchFamily="18" charset="0"/>
                <a:cs typeface="Times New Roman" panose="02020603050405020304" pitchFamily="18" charset="0"/>
              </a:rPr>
              <a:t> (pk), </a:t>
            </a:r>
            <a:r>
              <a:rPr lang="en-US" sz="2400" dirty="0" err="1">
                <a:latin typeface="Times New Roman" panose="02020603050405020304" pitchFamily="18" charset="0"/>
                <a:cs typeface="Times New Roman" panose="02020603050405020304" pitchFamily="18" charset="0"/>
              </a:rPr>
              <a:t>Detection_Time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Detection_Date</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5) City, Country.</a:t>
            </a:r>
          </a:p>
        </p:txBody>
      </p:sp>
    </p:spTree>
    <p:extLst>
      <p:ext uri="{BB962C8B-B14F-4D97-AF65-F5344CB8AC3E}">
        <p14:creationId xmlns:p14="http://schemas.microsoft.com/office/powerpoint/2010/main" val="950618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E1D8468-3765-5C6E-24BF-B57ECDFE6E00}"/>
              </a:ext>
            </a:extLst>
          </p:cNvPr>
          <p:cNvPicPr>
            <a:picLocks noChangeAspect="1"/>
          </p:cNvPicPr>
          <p:nvPr/>
        </p:nvPicPr>
        <p:blipFill>
          <a:blip r:embed="rId2">
            <a:lum bright="70000" contrast="-70000"/>
          </a:blip>
          <a:stretch>
            <a:fillRect/>
          </a:stretch>
        </p:blipFill>
        <p:spPr>
          <a:xfrm>
            <a:off x="0" y="0"/>
            <a:ext cx="12192000" cy="6858000"/>
          </a:xfrm>
          <a:prstGeom prst="rect">
            <a:avLst/>
          </a:prstGeom>
        </p:spPr>
      </p:pic>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lumMod val="95000"/>
              <a:lumOff val="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616916" y="6150430"/>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276321" y="5659479"/>
            <a:ext cx="915123" cy="841122"/>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100" dirty="0">
                <a:solidFill>
                  <a:schemeClr val="tx1"/>
                </a:solidFill>
              </a:rPr>
              <a:t>Process</a:t>
            </a:r>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275273" y="6145449"/>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4101036" y="6157871"/>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14">
            <a:extLst>
              <a:ext uri="{FF2B5EF4-FFF2-40B4-BE49-F238E27FC236}">
                <a16:creationId xmlns:a16="http://schemas.microsoft.com/office/drawing/2014/main" id="{0773BCEC-B0E2-44AF-E519-E45EE58B8AC3}"/>
              </a:ext>
            </a:extLst>
          </p:cNvPr>
          <p:cNvSpPr/>
          <p:nvPr/>
        </p:nvSpPr>
        <p:spPr>
          <a:xfrm>
            <a:off x="0" y="0"/>
            <a:ext cx="12192000" cy="11561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Working Process of The CFDS</a:t>
            </a:r>
          </a:p>
        </p:txBody>
      </p:sp>
      <p:sp>
        <p:nvSpPr>
          <p:cNvPr id="18" name="TextBox 17">
            <a:extLst>
              <a:ext uri="{FF2B5EF4-FFF2-40B4-BE49-F238E27FC236}">
                <a16:creationId xmlns:a16="http://schemas.microsoft.com/office/drawing/2014/main" id="{E38239FB-6EC1-D39F-9B83-9052F1AD454D}"/>
              </a:ext>
            </a:extLst>
          </p:cNvPr>
          <p:cNvSpPr txBox="1"/>
          <p:nvPr/>
        </p:nvSpPr>
        <p:spPr>
          <a:xfrm>
            <a:off x="1820920" y="1918368"/>
            <a:ext cx="9074552" cy="3477875"/>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Capture and Analysis: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captures facial images from various sources like CCTV footage or photographs.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Then analyzes these images to extract facial features like eyes, nose, and mouth.</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Facial Recognition: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Using sophisticated algorithms like Convolutional Neural Networks (CNNs), the system compares extracted features against a database of known criminals. If a match is found, it alerts law enforcement.</a:t>
            </a:r>
          </a:p>
          <a:p>
            <a:endParaRPr lang="en-US" sz="2000" dirty="0"/>
          </a:p>
        </p:txBody>
      </p:sp>
    </p:spTree>
    <p:extLst>
      <p:ext uri="{BB962C8B-B14F-4D97-AF65-F5344CB8AC3E}">
        <p14:creationId xmlns:p14="http://schemas.microsoft.com/office/powerpoint/2010/main" val="299151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D54DBF-1E49-7AE0-0AD9-8A76CE5E3477}"/>
              </a:ext>
            </a:extLst>
          </p:cNvPr>
          <p:cNvSpPr/>
          <p:nvPr/>
        </p:nvSpPr>
        <p:spPr>
          <a:xfrm>
            <a:off x="1" y="-53771"/>
            <a:ext cx="12191998" cy="691177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15" name="Rectangle 14">
            <a:extLst>
              <a:ext uri="{FF2B5EF4-FFF2-40B4-BE49-F238E27FC236}">
                <a16:creationId xmlns:a16="http://schemas.microsoft.com/office/drawing/2014/main" id="{0773BCEC-B0E2-44AF-E519-E45EE58B8AC3}"/>
              </a:ext>
            </a:extLst>
          </p:cNvPr>
          <p:cNvSpPr/>
          <p:nvPr/>
        </p:nvSpPr>
        <p:spPr>
          <a:xfrm>
            <a:off x="-1" y="-53771"/>
            <a:ext cx="12192000" cy="11561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Database Connection through ‘Java’</a:t>
            </a: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lumMod val="95000"/>
              <a:lumOff val="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616916" y="6150430"/>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276321" y="5659479"/>
            <a:ext cx="915123" cy="841122"/>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100" dirty="0">
                <a:solidFill>
                  <a:schemeClr val="tx1"/>
                </a:solidFill>
              </a:rPr>
              <a:t>Java conn.</a:t>
            </a:r>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275273" y="6145449"/>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4101036" y="6157871"/>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3322A584-E79C-2D62-528B-5541965B7CEF}"/>
              </a:ext>
            </a:extLst>
          </p:cNvPr>
          <p:cNvSpPr txBox="1"/>
          <p:nvPr/>
        </p:nvSpPr>
        <p:spPr>
          <a:xfrm>
            <a:off x="1057154" y="2046522"/>
            <a:ext cx="11134846"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Acquired the necessary Connector/JAR file from MySQL's official website for connecting Java with MySQL.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Installed "</a:t>
            </a:r>
            <a:r>
              <a:rPr lang="en-US" sz="2400" dirty="0" err="1">
                <a:latin typeface="Times New Roman" panose="02020603050405020304" pitchFamily="18" charset="0"/>
                <a:cs typeface="Times New Roman" panose="02020603050405020304" pitchFamily="18" charset="0"/>
              </a:rPr>
              <a:t>Xampp</a:t>
            </a:r>
            <a:r>
              <a:rPr lang="en-US" sz="2400" dirty="0">
                <a:latin typeface="Times New Roman" panose="02020603050405020304" pitchFamily="18" charset="0"/>
                <a:cs typeface="Times New Roman" panose="02020603050405020304" pitchFamily="18" charset="0"/>
              </a:rPr>
              <a:t>" for essential server needs.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Downloaded MySQL Shell and followed installation instructions.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et up the database structure using concise SQL commands.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Organized project components in IntelliJ IDEA.</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Enhanced connection capabilities by adding the appropriate library.</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Registered the MySQL JDBC driver to enable communication with the database.</a:t>
            </a:r>
          </a:p>
        </p:txBody>
      </p:sp>
    </p:spTree>
    <p:extLst>
      <p:ext uri="{BB962C8B-B14F-4D97-AF65-F5344CB8AC3E}">
        <p14:creationId xmlns:p14="http://schemas.microsoft.com/office/powerpoint/2010/main" val="321493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D54DBF-1E49-7AE0-0AD9-8A76CE5E3477}"/>
              </a:ext>
            </a:extLst>
          </p:cNvPr>
          <p:cNvSpPr/>
          <p:nvPr/>
        </p:nvSpPr>
        <p:spPr>
          <a:xfrm>
            <a:off x="1" y="-53771"/>
            <a:ext cx="12191998" cy="691177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15" name="Rectangle 14">
            <a:extLst>
              <a:ext uri="{FF2B5EF4-FFF2-40B4-BE49-F238E27FC236}">
                <a16:creationId xmlns:a16="http://schemas.microsoft.com/office/drawing/2014/main" id="{0773BCEC-B0E2-44AF-E519-E45EE58B8AC3}"/>
              </a:ext>
            </a:extLst>
          </p:cNvPr>
          <p:cNvSpPr/>
          <p:nvPr/>
        </p:nvSpPr>
        <p:spPr>
          <a:xfrm>
            <a:off x="-1" y="-53771"/>
            <a:ext cx="12192000" cy="11561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Database Connection through ‘Java’</a:t>
            </a: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lumMod val="95000"/>
              <a:lumOff val="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616916" y="6150430"/>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276321" y="5659479"/>
            <a:ext cx="915123" cy="841122"/>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100" dirty="0">
                <a:solidFill>
                  <a:schemeClr val="tx1"/>
                </a:solidFill>
              </a:rPr>
              <a:t>Java conn.</a:t>
            </a:r>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275273" y="6145449"/>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4101036" y="6157871"/>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Picture 4" descr="A screenshot of a computer program&#10;&#10;Description automatically generated">
            <a:extLst>
              <a:ext uri="{FF2B5EF4-FFF2-40B4-BE49-F238E27FC236}">
                <a16:creationId xmlns:a16="http://schemas.microsoft.com/office/drawing/2014/main" id="{47D010BB-596A-C937-FF3E-C55756EAECE1}"/>
              </a:ext>
            </a:extLst>
          </p:cNvPr>
          <p:cNvPicPr>
            <a:picLocks noChangeAspect="1"/>
          </p:cNvPicPr>
          <p:nvPr/>
        </p:nvPicPr>
        <p:blipFill>
          <a:blip r:embed="rId2"/>
          <a:stretch>
            <a:fillRect/>
          </a:stretch>
        </p:blipFill>
        <p:spPr>
          <a:xfrm>
            <a:off x="29514" y="1821621"/>
            <a:ext cx="6989038" cy="3799021"/>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BCFA5ADA-3FA8-27AA-2E42-40C70ECC711A}"/>
              </a:ext>
            </a:extLst>
          </p:cNvPr>
          <p:cNvPicPr>
            <a:picLocks noChangeAspect="1"/>
          </p:cNvPicPr>
          <p:nvPr/>
        </p:nvPicPr>
        <p:blipFill>
          <a:blip r:embed="rId3"/>
          <a:stretch>
            <a:fillRect/>
          </a:stretch>
        </p:blipFill>
        <p:spPr>
          <a:xfrm>
            <a:off x="7050766" y="3307566"/>
            <a:ext cx="5048221" cy="2298475"/>
          </a:xfrm>
          <a:prstGeom prst="rect">
            <a:avLst/>
          </a:prstGeom>
        </p:spPr>
      </p:pic>
      <p:sp>
        <p:nvSpPr>
          <p:cNvPr id="8" name="TextBox 7">
            <a:extLst>
              <a:ext uri="{FF2B5EF4-FFF2-40B4-BE49-F238E27FC236}">
                <a16:creationId xmlns:a16="http://schemas.microsoft.com/office/drawing/2014/main" id="{890FBA62-7C01-2C7D-2232-A8E3461BA2BF}"/>
              </a:ext>
            </a:extLst>
          </p:cNvPr>
          <p:cNvSpPr txBox="1"/>
          <p:nvPr/>
        </p:nvSpPr>
        <p:spPr>
          <a:xfrm>
            <a:off x="29514" y="1246778"/>
            <a:ext cx="108065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Code:</a:t>
            </a:r>
          </a:p>
        </p:txBody>
      </p:sp>
      <p:sp>
        <p:nvSpPr>
          <p:cNvPr id="9" name="TextBox 8">
            <a:extLst>
              <a:ext uri="{FF2B5EF4-FFF2-40B4-BE49-F238E27FC236}">
                <a16:creationId xmlns:a16="http://schemas.microsoft.com/office/drawing/2014/main" id="{59E646C4-FF77-E935-2BE6-85CA378486F0}"/>
              </a:ext>
            </a:extLst>
          </p:cNvPr>
          <p:cNvSpPr txBox="1"/>
          <p:nvPr/>
        </p:nvSpPr>
        <p:spPr>
          <a:xfrm>
            <a:off x="8831342" y="2803396"/>
            <a:ext cx="154786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a:t>
            </a:r>
            <a:r>
              <a:rPr 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08060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FB2F828-970D-9A75-BEA8-14414E4A51AC}"/>
              </a:ext>
            </a:extLst>
          </p:cNvPr>
          <p:cNvSpPr/>
          <p:nvPr/>
        </p:nvSpPr>
        <p:spPr>
          <a:xfrm>
            <a:off x="1" y="-53771"/>
            <a:ext cx="12191998" cy="691177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lumMod val="95000"/>
              <a:lumOff val="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365529" y="5660020"/>
            <a:ext cx="1074299" cy="867573"/>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Challenge</a:t>
            </a:r>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431809" y="6142544"/>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275273" y="6145449"/>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4101036" y="6157871"/>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Rectangle 13">
            <a:extLst>
              <a:ext uri="{FF2B5EF4-FFF2-40B4-BE49-F238E27FC236}">
                <a16:creationId xmlns:a16="http://schemas.microsoft.com/office/drawing/2014/main" id="{63C5FED4-0420-6D49-7182-68D16DB6C18D}"/>
              </a:ext>
            </a:extLst>
          </p:cNvPr>
          <p:cNvSpPr/>
          <p:nvPr/>
        </p:nvSpPr>
        <p:spPr>
          <a:xfrm>
            <a:off x="-2" y="-53771"/>
            <a:ext cx="12192001" cy="11561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Challenges</a:t>
            </a:r>
          </a:p>
        </p:txBody>
      </p:sp>
      <p:sp>
        <p:nvSpPr>
          <p:cNvPr id="17" name="TextBox 16">
            <a:extLst>
              <a:ext uri="{FF2B5EF4-FFF2-40B4-BE49-F238E27FC236}">
                <a16:creationId xmlns:a16="http://schemas.microsoft.com/office/drawing/2014/main" id="{10EF1E64-59E0-BA32-6CD0-8FB16619A8EE}"/>
              </a:ext>
            </a:extLst>
          </p:cNvPr>
          <p:cNvSpPr txBox="1"/>
          <p:nvPr/>
        </p:nvSpPr>
        <p:spPr>
          <a:xfrm>
            <a:off x="1920551" y="1840374"/>
            <a:ext cx="483659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Compatibility Issues</a:t>
            </a:r>
          </a:p>
          <a:p>
            <a:pPr marL="285750" indent="-285750">
              <a:buFont typeface="Arial" panose="020B0604020202020204" pitchFamily="34" charset="0"/>
              <a:buChar char="•"/>
            </a:pPr>
            <a:r>
              <a:rPr lang="en-US" sz="2400" dirty="0"/>
              <a:t>Security Concerns</a:t>
            </a:r>
          </a:p>
          <a:p>
            <a:pPr marL="285750" indent="-285750">
              <a:buFont typeface="Arial" panose="020B0604020202020204" pitchFamily="34" charset="0"/>
              <a:buChar char="•"/>
            </a:pPr>
            <a:r>
              <a:rPr lang="en-US" sz="2400" dirty="0"/>
              <a:t>Scalability</a:t>
            </a:r>
          </a:p>
          <a:p>
            <a:pPr marL="285750" indent="-285750">
              <a:buFont typeface="Arial" panose="020B0604020202020204" pitchFamily="34" charset="0"/>
              <a:buChar char="•"/>
            </a:pPr>
            <a:r>
              <a:rPr lang="en-US" sz="2400" dirty="0"/>
              <a:t>Performance Optimization</a:t>
            </a:r>
          </a:p>
          <a:p>
            <a:pPr marL="285750" indent="-285750">
              <a:buFont typeface="Arial" panose="020B0604020202020204" pitchFamily="34" charset="0"/>
              <a:buChar char="•"/>
            </a:pPr>
            <a:r>
              <a:rPr lang="en-US" sz="2400" dirty="0"/>
              <a:t>Error Handling and Debugging</a:t>
            </a:r>
          </a:p>
          <a:p>
            <a:pPr marL="285750" indent="-285750">
              <a:buFont typeface="Arial" panose="020B0604020202020204" pitchFamily="34" charset="0"/>
              <a:buChar char="•"/>
            </a:pPr>
            <a:r>
              <a:rPr lang="en-US" sz="2400" dirty="0"/>
              <a:t>Data Integrity</a:t>
            </a:r>
          </a:p>
          <a:p>
            <a:pPr marL="285750" indent="-285750">
              <a:buFont typeface="Arial" panose="020B0604020202020204" pitchFamily="34" charset="0"/>
              <a:buChar char="•"/>
            </a:pPr>
            <a:r>
              <a:rPr lang="en-US" sz="2400" dirty="0"/>
              <a:t>Concurrency Control</a:t>
            </a:r>
          </a:p>
          <a:p>
            <a:pPr marL="285750" indent="-285750">
              <a:buFont typeface="Arial" panose="020B0604020202020204" pitchFamily="34" charset="0"/>
              <a:buChar char="•"/>
            </a:pPr>
            <a:r>
              <a:rPr lang="en-US" sz="2400" dirty="0"/>
              <a:t>Regulatory Compliance</a:t>
            </a:r>
          </a:p>
        </p:txBody>
      </p:sp>
    </p:spTree>
    <p:extLst>
      <p:ext uri="{BB962C8B-B14F-4D97-AF65-F5344CB8AC3E}">
        <p14:creationId xmlns:p14="http://schemas.microsoft.com/office/powerpoint/2010/main" val="1346748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D42F69-DD41-BC6B-9110-96851F03288B}"/>
              </a:ext>
            </a:extLst>
          </p:cNvPr>
          <p:cNvSpPr/>
          <p:nvPr/>
        </p:nvSpPr>
        <p:spPr>
          <a:xfrm>
            <a:off x="1" y="-53771"/>
            <a:ext cx="12191998" cy="691177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lumMod val="95000"/>
              <a:lumOff val="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809670" y="6156147"/>
            <a:ext cx="571526" cy="517966"/>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431809" y="6142544"/>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275273" y="6145449"/>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4101036" y="6157871"/>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lowchart: Connector 2">
            <a:extLst>
              <a:ext uri="{FF2B5EF4-FFF2-40B4-BE49-F238E27FC236}">
                <a16:creationId xmlns:a16="http://schemas.microsoft.com/office/drawing/2014/main" id="{B05DD2D3-B717-B10E-8ABA-8B8C1AB22C22}"/>
              </a:ext>
            </a:extLst>
          </p:cNvPr>
          <p:cNvSpPr/>
          <p:nvPr/>
        </p:nvSpPr>
        <p:spPr>
          <a:xfrm>
            <a:off x="7365529" y="5660020"/>
            <a:ext cx="1074299" cy="867573"/>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Future</a:t>
            </a:r>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4">
            <a:extLst>
              <a:ext uri="{FF2B5EF4-FFF2-40B4-BE49-F238E27FC236}">
                <a16:creationId xmlns:a16="http://schemas.microsoft.com/office/drawing/2014/main" id="{0392438B-B2F0-8BCC-D7A6-CD301016D256}"/>
              </a:ext>
            </a:extLst>
          </p:cNvPr>
          <p:cNvSpPr txBox="1"/>
          <p:nvPr/>
        </p:nvSpPr>
        <p:spPr>
          <a:xfrm>
            <a:off x="1920551" y="1880804"/>
            <a:ext cx="8518967" cy="3416320"/>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Advancements: We're working on making our technology even better at recognizing faces in tricky situations. </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Applications: Besides catching bad guys, we might use this tech in stores or banks to help with security.    </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Ethical Implications: We need to keep talking about how to use this tech responsibly and make sure it's fair for everyone.</a:t>
            </a:r>
          </a:p>
          <a:p>
            <a:endParaRPr lang="en-US" sz="2400" dirty="0"/>
          </a:p>
        </p:txBody>
      </p:sp>
      <p:sp>
        <p:nvSpPr>
          <p:cNvPr id="7" name="Rectangle 6">
            <a:extLst>
              <a:ext uri="{FF2B5EF4-FFF2-40B4-BE49-F238E27FC236}">
                <a16:creationId xmlns:a16="http://schemas.microsoft.com/office/drawing/2014/main" id="{F8E1A55D-0EA1-09B1-E8EC-31B5948C25EA}"/>
              </a:ext>
            </a:extLst>
          </p:cNvPr>
          <p:cNvSpPr/>
          <p:nvPr/>
        </p:nvSpPr>
        <p:spPr>
          <a:xfrm>
            <a:off x="0" y="-53771"/>
            <a:ext cx="12192001" cy="120391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Future Objectives</a:t>
            </a:r>
          </a:p>
        </p:txBody>
      </p:sp>
    </p:spTree>
    <p:extLst>
      <p:ext uri="{BB962C8B-B14F-4D97-AF65-F5344CB8AC3E}">
        <p14:creationId xmlns:p14="http://schemas.microsoft.com/office/powerpoint/2010/main" val="591370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64">
            <a:extLst>
              <a:ext uri="{FF2B5EF4-FFF2-40B4-BE49-F238E27FC236}">
                <a16:creationId xmlns:a16="http://schemas.microsoft.com/office/drawing/2014/main" id="{FE7CEBF3-72D5-7FF1-2355-1851E48177EE}"/>
              </a:ext>
            </a:extLst>
          </p:cNvPr>
          <p:cNvSpPr/>
          <p:nvPr/>
        </p:nvSpPr>
        <p:spPr>
          <a:xfrm>
            <a:off x="0" y="0"/>
            <a:ext cx="12533506" cy="685800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16" name="Rectangle: Rounded Corners 15">
            <a:extLst>
              <a:ext uri="{FF2B5EF4-FFF2-40B4-BE49-F238E27FC236}">
                <a16:creationId xmlns:a16="http://schemas.microsoft.com/office/drawing/2014/main" id="{D735CFA0-C745-B645-5A7A-D1003B90A618}"/>
              </a:ext>
            </a:extLst>
          </p:cNvPr>
          <p:cNvSpPr/>
          <p:nvPr/>
        </p:nvSpPr>
        <p:spPr>
          <a:xfrm>
            <a:off x="1920551" y="6142544"/>
            <a:ext cx="8350898" cy="679618"/>
          </a:xfrm>
          <a:prstGeom prst="roundRect">
            <a:avLst/>
          </a:prstGeom>
          <a:solidFill>
            <a:schemeClr val="tx1">
              <a:lumMod val="95000"/>
              <a:lumOff val="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7724F97A-1DFD-7B06-B390-1285236DD590}"/>
              </a:ext>
            </a:extLst>
          </p:cNvPr>
          <p:cNvSpPr/>
          <p:nvPr/>
        </p:nvSpPr>
        <p:spPr>
          <a:xfrm>
            <a:off x="2952507" y="6149177"/>
            <a:ext cx="571526" cy="517966"/>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noFill/>
            </a:endParaRPr>
          </a:p>
        </p:txBody>
      </p:sp>
      <p:sp>
        <p:nvSpPr>
          <p:cNvPr id="63" name="Flowchart: Connector 62">
            <a:extLst>
              <a:ext uri="{FF2B5EF4-FFF2-40B4-BE49-F238E27FC236}">
                <a16:creationId xmlns:a16="http://schemas.microsoft.com/office/drawing/2014/main" id="{E780C0AC-8212-6C93-A3D3-08332948350D}"/>
              </a:ext>
            </a:extLst>
          </p:cNvPr>
          <p:cNvSpPr/>
          <p:nvPr/>
        </p:nvSpPr>
        <p:spPr>
          <a:xfrm>
            <a:off x="8593835" y="5635832"/>
            <a:ext cx="1009594" cy="886394"/>
          </a:xfrm>
          <a:prstGeom prst="flowChartConnector">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solidFill>
                  <a:schemeClr val="tx1"/>
                </a:solidFill>
                <a:latin typeface="Times New Roman" panose="02020603050405020304" pitchFamily="18" charset="0"/>
                <a:cs typeface="Times New Roman" panose="02020603050405020304" pitchFamily="18" charset="0"/>
              </a:rPr>
              <a:t>Conclusion</a:t>
            </a:r>
          </a:p>
        </p:txBody>
      </p:sp>
      <p:sp>
        <p:nvSpPr>
          <p:cNvPr id="256" name="Flowchart: Connector 255">
            <a:extLst>
              <a:ext uri="{FF2B5EF4-FFF2-40B4-BE49-F238E27FC236}">
                <a16:creationId xmlns:a16="http://schemas.microsoft.com/office/drawing/2014/main" id="{30F3B433-53DA-A13A-EA97-57CA159B92C1}"/>
              </a:ext>
            </a:extLst>
          </p:cNvPr>
          <p:cNvSpPr/>
          <p:nvPr/>
        </p:nvSpPr>
        <p:spPr>
          <a:xfrm>
            <a:off x="7616916" y="6150430"/>
            <a:ext cx="571526" cy="517966"/>
          </a:xfrm>
          <a:prstGeom prst="flowChartConnector">
            <a:avLst/>
          </a:prstGeom>
          <a:solidFill>
            <a:srgbClr val="FDFBF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7" name="Flowchart: Connector 256">
            <a:extLst>
              <a:ext uri="{FF2B5EF4-FFF2-40B4-BE49-F238E27FC236}">
                <a16:creationId xmlns:a16="http://schemas.microsoft.com/office/drawing/2014/main" id="{5C589B06-A651-C955-4DB1-60BD52307B83}"/>
              </a:ext>
            </a:extLst>
          </p:cNvPr>
          <p:cNvSpPr/>
          <p:nvPr/>
        </p:nvSpPr>
        <p:spPr>
          <a:xfrm>
            <a:off x="6431809" y="6142544"/>
            <a:ext cx="594458" cy="541764"/>
          </a:xfrm>
          <a:prstGeom prst="flowChartConnector">
            <a:avLst/>
          </a:prstGeom>
          <a:solidFill>
            <a:schemeClr val="accent3">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8" name="Flowchart: Connector 257">
            <a:extLst>
              <a:ext uri="{FF2B5EF4-FFF2-40B4-BE49-F238E27FC236}">
                <a16:creationId xmlns:a16="http://schemas.microsoft.com/office/drawing/2014/main" id="{11249C76-C1B2-3208-1F92-8A9D03D4AF14}"/>
              </a:ext>
            </a:extLst>
          </p:cNvPr>
          <p:cNvSpPr/>
          <p:nvPr/>
        </p:nvSpPr>
        <p:spPr>
          <a:xfrm>
            <a:off x="5275273" y="6145449"/>
            <a:ext cx="571526" cy="517966"/>
          </a:xfrm>
          <a:prstGeom prst="flowChartConnector">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9" name="Flowchart: Connector 258">
            <a:extLst>
              <a:ext uri="{FF2B5EF4-FFF2-40B4-BE49-F238E27FC236}">
                <a16:creationId xmlns:a16="http://schemas.microsoft.com/office/drawing/2014/main" id="{16401B40-92C5-EF01-881E-B27144836CE1}"/>
              </a:ext>
            </a:extLst>
          </p:cNvPr>
          <p:cNvSpPr/>
          <p:nvPr/>
        </p:nvSpPr>
        <p:spPr>
          <a:xfrm>
            <a:off x="4101036" y="6157871"/>
            <a:ext cx="571526" cy="516242"/>
          </a:xfrm>
          <a:prstGeom prst="flowChartConnector">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DFE405AA-E21A-155A-AC20-068CE62756A5}"/>
              </a:ext>
            </a:extLst>
          </p:cNvPr>
          <p:cNvSpPr/>
          <p:nvPr/>
        </p:nvSpPr>
        <p:spPr>
          <a:xfrm>
            <a:off x="8722121" y="6404361"/>
            <a:ext cx="748999" cy="320352"/>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D7B23FD3-2537-1899-8042-5D906FF9CC5C}"/>
              </a:ext>
            </a:extLst>
          </p:cNvPr>
          <p:cNvSpPr/>
          <p:nvPr/>
        </p:nvSpPr>
        <p:spPr>
          <a:xfrm>
            <a:off x="6358196" y="6416854"/>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49" name="Freeform: Shape 48">
            <a:extLst>
              <a:ext uri="{FF2B5EF4-FFF2-40B4-BE49-F238E27FC236}">
                <a16:creationId xmlns:a16="http://schemas.microsoft.com/office/drawing/2014/main" id="{E29D457C-8979-9225-0574-806A27385929}"/>
              </a:ext>
            </a:extLst>
          </p:cNvPr>
          <p:cNvSpPr/>
          <p:nvPr/>
        </p:nvSpPr>
        <p:spPr>
          <a:xfrm>
            <a:off x="2864599" y="6400563"/>
            <a:ext cx="748998" cy="320351"/>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BDE76629-424B-F234-488B-BE6EDCC07444}"/>
              </a:ext>
            </a:extLst>
          </p:cNvPr>
          <p:cNvSpPr/>
          <p:nvPr/>
        </p:nvSpPr>
        <p:spPr>
          <a:xfrm>
            <a:off x="5189400" y="640816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FB426F4-6AB7-1103-B496-C4F49773F842}"/>
              </a:ext>
            </a:extLst>
          </p:cNvPr>
          <p:cNvSpPr/>
          <p:nvPr/>
        </p:nvSpPr>
        <p:spPr>
          <a:xfrm>
            <a:off x="752699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DD9BABF8-CC4D-315E-4DEF-93D9C9A87B10}"/>
              </a:ext>
            </a:extLst>
          </p:cNvPr>
          <p:cNvSpPr/>
          <p:nvPr/>
        </p:nvSpPr>
        <p:spPr>
          <a:xfrm>
            <a:off x="4012502" y="6415130"/>
            <a:ext cx="751374" cy="316553"/>
          </a:xfrm>
          <a:custGeom>
            <a:avLst/>
            <a:gdLst>
              <a:gd name="connsiteX0" fmla="*/ 0 w 751374"/>
              <a:gd name="connsiteY0" fmla="*/ 0 h 316553"/>
              <a:gd name="connsiteX1" fmla="*/ 751374 w 751374"/>
              <a:gd name="connsiteY1" fmla="*/ 0 h 316553"/>
              <a:gd name="connsiteX2" fmla="*/ 748279 w 751374"/>
              <a:gd name="connsiteY2" fmla="*/ 29063 h 316553"/>
              <a:gd name="connsiteX3" fmla="*/ 375687 w 751374"/>
              <a:gd name="connsiteY3" fmla="*/ 316553 h 316553"/>
              <a:gd name="connsiteX4" fmla="*/ 3095 w 751374"/>
              <a:gd name="connsiteY4" fmla="*/ 29063 h 316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74" h="316553">
                <a:moveTo>
                  <a:pt x="0" y="0"/>
                </a:moveTo>
                <a:lnTo>
                  <a:pt x="751374" y="0"/>
                </a:lnTo>
                <a:lnTo>
                  <a:pt x="748279" y="29063"/>
                </a:lnTo>
                <a:cubicBezTo>
                  <a:pt x="712816" y="193134"/>
                  <a:pt x="559476" y="316553"/>
                  <a:pt x="375687" y="316553"/>
                </a:cubicBezTo>
                <a:cubicBezTo>
                  <a:pt x="191899" y="316553"/>
                  <a:pt x="38558" y="193134"/>
                  <a:pt x="3095" y="29063"/>
                </a:cubicBezTo>
                <a:close/>
              </a:path>
            </a:pathLst>
          </a:cu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DE2FDCC2-697F-5E57-C672-9DC4A59F1461}"/>
              </a:ext>
            </a:extLst>
          </p:cNvPr>
          <p:cNvSpPr/>
          <p:nvPr/>
        </p:nvSpPr>
        <p:spPr>
          <a:xfrm>
            <a:off x="-1" y="-6667"/>
            <a:ext cx="12533506" cy="120391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Conclusion</a:t>
            </a:r>
          </a:p>
        </p:txBody>
      </p:sp>
      <p:sp>
        <p:nvSpPr>
          <p:cNvPr id="21" name="TextBox 20">
            <a:extLst>
              <a:ext uri="{FF2B5EF4-FFF2-40B4-BE49-F238E27FC236}">
                <a16:creationId xmlns:a16="http://schemas.microsoft.com/office/drawing/2014/main" id="{6DBCE6F2-F33E-8F90-C232-DBFB3325C9AA}"/>
              </a:ext>
            </a:extLst>
          </p:cNvPr>
          <p:cNvSpPr txBox="1"/>
          <p:nvPr/>
        </p:nvSpPr>
        <p:spPr>
          <a:xfrm>
            <a:off x="1642665" y="1814342"/>
            <a:ext cx="9248173"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“Criminal Face Detection System” represents a significant advancement in law enforcement technology.</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Integrates facial recognition with real-time surveillance for identifying and tracking criminals.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Despite challenges like compatibility issues and security concerns, the project successfully implemented robust solutions.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system's implementation holds promise for improving public safety through swift suspect identification and apprehension.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Moving forward, ongoing optimization and adaptation will further enhance its effectiveness in combating crime.</a:t>
            </a:r>
          </a:p>
        </p:txBody>
      </p:sp>
    </p:spTree>
    <p:extLst>
      <p:ext uri="{BB962C8B-B14F-4D97-AF65-F5344CB8AC3E}">
        <p14:creationId xmlns:p14="http://schemas.microsoft.com/office/powerpoint/2010/main" val="371930507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309271" y="2168107"/>
            <a:ext cx="6870503" cy="2521785"/>
          </a:xfrm>
        </p:spPr>
        <p:txBody>
          <a:bodyPr/>
          <a:lstStyle/>
          <a:p>
            <a:r>
              <a:rPr lang="en-US" sz="6000" dirty="0"/>
              <a:t>THANK YOU</a:t>
            </a:r>
          </a:p>
        </p:txBody>
      </p:sp>
      <p:sp>
        <p:nvSpPr>
          <p:cNvPr id="6" name="Rectangle 5">
            <a:extLst>
              <a:ext uri="{FF2B5EF4-FFF2-40B4-BE49-F238E27FC236}">
                <a16:creationId xmlns:a16="http://schemas.microsoft.com/office/drawing/2014/main" id="{FD9055CF-308A-B7C9-B690-4F99280D5A30}"/>
              </a:ext>
            </a:extLst>
          </p:cNvPr>
          <p:cNvSpPr/>
          <p:nvPr/>
        </p:nvSpPr>
        <p:spPr>
          <a:xfrm>
            <a:off x="8736689" y="-1"/>
            <a:ext cx="3495869" cy="68580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55C85DF1-B936-8071-58C5-4250F7924BBF}"/>
              </a:ext>
            </a:extLst>
          </p:cNvPr>
          <p:cNvSpPr/>
          <p:nvPr/>
        </p:nvSpPr>
        <p:spPr>
          <a:xfrm>
            <a:off x="9343054" y="2565918"/>
            <a:ext cx="1903445" cy="1912776"/>
          </a:xfrm>
          <a:prstGeom prst="flowChartConnector">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01D8B100-D3E8-9862-84EE-EA0FF8C231B0}"/>
              </a:ext>
            </a:extLst>
          </p:cNvPr>
          <p:cNvSpPr/>
          <p:nvPr/>
        </p:nvSpPr>
        <p:spPr>
          <a:xfrm>
            <a:off x="9549104" y="2741644"/>
            <a:ext cx="1491344" cy="1511559"/>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Flowchart: Connector 13">
            <a:extLst>
              <a:ext uri="{FF2B5EF4-FFF2-40B4-BE49-F238E27FC236}">
                <a16:creationId xmlns:a16="http://schemas.microsoft.com/office/drawing/2014/main" id="{B5048B06-45EA-F8D6-141E-6FC9A0259771}"/>
              </a:ext>
            </a:extLst>
          </p:cNvPr>
          <p:cNvSpPr/>
          <p:nvPr/>
        </p:nvSpPr>
        <p:spPr>
          <a:xfrm>
            <a:off x="9694506" y="2887046"/>
            <a:ext cx="1200539" cy="1220754"/>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a:extLst>
              <a:ext uri="{FF2B5EF4-FFF2-40B4-BE49-F238E27FC236}">
                <a16:creationId xmlns:a16="http://schemas.microsoft.com/office/drawing/2014/main" id="{DA0D4A30-D9E0-4F19-0CF6-9AB83DF27BC1}"/>
              </a:ext>
            </a:extLst>
          </p:cNvPr>
          <p:cNvSpPr/>
          <p:nvPr/>
        </p:nvSpPr>
        <p:spPr>
          <a:xfrm>
            <a:off x="9888699" y="3091931"/>
            <a:ext cx="812151" cy="810983"/>
          </a:xfrm>
          <a:prstGeom prst="flowChartConnector">
            <a:avLst/>
          </a:prstGeom>
          <a:solidFill>
            <a:srgbClr val="F5CD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3962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22b5841-f8cc-41b9-b58c-1c4d44e1fc7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3B8DE1CB5CA25448B475FD8436F01A9" ma:contentTypeVersion="3" ma:contentTypeDescription="Create a new document." ma:contentTypeScope="" ma:versionID="b9606094b531d962b74449441cbe4ccc">
  <xsd:schema xmlns:xsd="http://www.w3.org/2001/XMLSchema" xmlns:xs="http://www.w3.org/2001/XMLSchema" xmlns:p="http://schemas.microsoft.com/office/2006/metadata/properties" xmlns:ns3="722b5841-f8cc-41b9-b58c-1c4d44e1fc76" targetNamespace="http://schemas.microsoft.com/office/2006/metadata/properties" ma:root="true" ma:fieldsID="2fcc42f4a0a3bdc053a856aaa10eeccb" ns3:_="">
    <xsd:import namespace="722b5841-f8cc-41b9-b58c-1c4d44e1fc76"/>
    <xsd:element name="properties">
      <xsd:complexType>
        <xsd:sequence>
          <xsd:element name="documentManagement">
            <xsd:complexType>
              <xsd:all>
                <xsd:element ref="ns3:MediaServiceMetadata" minOccurs="0"/>
                <xsd:element ref="ns3:MediaServiceFastMetadata"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2b5841-f8cc-41b9-b58c-1c4d44e1fc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0CE4DA-3531-41AD-BA26-C25CFCA87A03}">
  <ds:schemaRefs>
    <ds:schemaRef ds:uri="http://purl.org/dc/elements/1.1/"/>
    <ds:schemaRef ds:uri="http://purl.org/dc/terms/"/>
    <ds:schemaRef ds:uri="http://schemas.microsoft.com/office/2006/metadata/properties"/>
    <ds:schemaRef ds:uri="http://schemas.microsoft.com/office/2006/documentManagement/types"/>
    <ds:schemaRef ds:uri="http://www.w3.org/XML/1998/namespace"/>
    <ds:schemaRef ds:uri="http://purl.org/dc/dcmitype/"/>
    <ds:schemaRef ds:uri="http://schemas.openxmlformats.org/package/2006/metadata/core-properties"/>
    <ds:schemaRef ds:uri="http://schemas.microsoft.com/office/infopath/2007/PartnerControls"/>
    <ds:schemaRef ds:uri="722b5841-f8cc-41b9-b58c-1c4d44e1fc76"/>
  </ds:schemaRefs>
</ds:datastoreItem>
</file>

<file path=customXml/itemProps2.xml><?xml version="1.0" encoding="utf-8"?>
<ds:datastoreItem xmlns:ds="http://schemas.openxmlformats.org/officeDocument/2006/customXml" ds:itemID="{D8E43B43-DDA0-4D99-B93D-4396E7DF31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22b5841-f8cc-41b9-b58c-1c4d44e1fc7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A57F96D-42DD-49D6-B8A0-439F3BFB9E5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{FDA14D44-41AA-486D-82FF-B7D196ADEA19}tf78438558_win32</Template>
  <TotalTime>1526</TotalTime>
  <Words>834</Words>
  <Application>Microsoft Office PowerPoint</Application>
  <PresentationFormat>Widescreen</PresentationFormat>
  <Paragraphs>169</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ADLaM Display</vt:lpstr>
      <vt:lpstr>Arial</vt:lpstr>
      <vt:lpstr>Arial Black</vt:lpstr>
      <vt:lpstr>Sabon Next LT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
  <dc:creator>DEBASHIS KUMAR DAS</dc:creator>
  <cp:lastModifiedBy>Md. Hosne Jaim Joy</cp:lastModifiedBy>
  <cp:revision>312</cp:revision>
  <dcterms:created xsi:type="dcterms:W3CDTF">2023-04-02T10:47:03Z</dcterms:created>
  <dcterms:modified xsi:type="dcterms:W3CDTF">2024-05-14T03:09:18Z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0x01010093B8DE1CB5CA25448B475FD8436F01A9</vt:lpwstr>
  </property>
</Properties>
</file>